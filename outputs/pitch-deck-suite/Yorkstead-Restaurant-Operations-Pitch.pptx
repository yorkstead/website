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91360982a94c18" /><Relationship Type="http://schemas.openxmlformats.org/officeDocument/2006/relationships/extended-properties" Target="/docProps/app.xml" Id="R1dfa7237ad5a49e7" /><Relationship Type="http://schemas.openxmlformats.org/officeDocument/2006/relationships/officeDocument" Target="/ppt/presentation.xml" Id="R296fa9fc38f149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75a15c2a5a4e83"/>
  </p:sldMasterIdLst>
  <p:notesMasterIdLst>
    <p:notesMasterId xmlns:r="http://schemas.openxmlformats.org/officeDocument/2006/relationships" r:id="R4b0c1cf666954646"/>
  </p:notesMasterIdLst>
  <p:sldIdLst>
    <p:sldId xmlns:r="http://schemas.openxmlformats.org/officeDocument/2006/relationships" id="256" r:id="R3c727a461af64602"/>
    <p:sldId xmlns:r="http://schemas.openxmlformats.org/officeDocument/2006/relationships" id="257" r:id="Ra7c6173deaa14999"/>
    <p:sldId xmlns:r="http://schemas.openxmlformats.org/officeDocument/2006/relationships" id="258" r:id="Red6883f774954cf8"/>
    <p:sldId xmlns:r="http://schemas.openxmlformats.org/officeDocument/2006/relationships" id="259" r:id="R174c989fb459455a"/>
    <p:sldId xmlns:r="http://schemas.openxmlformats.org/officeDocument/2006/relationships" id="260" r:id="Re6ba5893244a496d"/>
    <p:sldId xmlns:r="http://schemas.openxmlformats.org/officeDocument/2006/relationships" id="261" r:id="R8742383f1a864c40"/>
    <p:sldId xmlns:r="http://schemas.openxmlformats.org/officeDocument/2006/relationships" id="262" r:id="Rccf19e39985642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75142a4024ea5" /><Relationship Type="http://schemas.openxmlformats.org/officeDocument/2006/relationships/slideMaster" Target="/ppt/slideMasters/slideMaster1.xml" Id="R8675a15c2a5a4e83" /><Relationship Type="http://schemas.openxmlformats.org/officeDocument/2006/relationships/notesMaster" Target="/ppt/notesMasters/notesMaster1.xml" Id="R4b0c1cf666954646" /><Relationship Type="http://schemas.openxmlformats.org/officeDocument/2006/relationships/presProps" Target="/ppt/presProps.xml" Id="R93668315b1754dbe" /><Relationship Type="http://schemas.openxmlformats.org/officeDocument/2006/relationships/tableStyles" Target="/ppt/tableStyles.xml" Id="R8a30ca78bc964932" /><Relationship Type="http://schemas.openxmlformats.org/officeDocument/2006/relationships/slide" Target="/ppt/slides/slide1.xml" Id="R3c727a461af64602" /><Relationship Type="http://schemas.openxmlformats.org/officeDocument/2006/relationships/slide" Target="/ppt/slides/slide2.xml" Id="Ra7c6173deaa14999" /><Relationship Type="http://schemas.openxmlformats.org/officeDocument/2006/relationships/slide" Target="/ppt/slides/slide3.xml" Id="Red6883f774954cf8" /><Relationship Type="http://schemas.openxmlformats.org/officeDocument/2006/relationships/slide" Target="/ppt/slides/slide4.xml" Id="R174c989fb459455a" /><Relationship Type="http://schemas.openxmlformats.org/officeDocument/2006/relationships/slide" Target="/ppt/slides/slide5.xml" Id="Re6ba5893244a496d" /><Relationship Type="http://schemas.openxmlformats.org/officeDocument/2006/relationships/slide" Target="/ppt/slides/slide6.xml" Id="R8742383f1a864c40" /><Relationship Type="http://schemas.openxmlformats.org/officeDocument/2006/relationships/slide" Target="/ppt/slides/slide7.xml" Id="Rccf19e39985642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451cf2032e43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ba6406ef864e03" /><Relationship Type="http://schemas.openxmlformats.org/officeDocument/2006/relationships/notesMaster" Target="/ppt/notesMasters/notesMaster1.xml" Id="R64243f8b55f44c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682b4a549d4425" /><Relationship Type="http://schemas.openxmlformats.org/officeDocument/2006/relationships/notesMaster" Target="/ppt/notesMasters/notesMaster1.xml" Id="Ra64c63652cf8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a56d300c14d95" /><Relationship Type="http://schemas.openxmlformats.org/officeDocument/2006/relationships/notesMaster" Target="/ppt/notesMasters/notesMaster1.xml" Id="R1c56d382ca1f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8d0c12d27f40af" /><Relationship Type="http://schemas.openxmlformats.org/officeDocument/2006/relationships/notesMaster" Target="/ppt/notesMasters/notesMaster1.xml" Id="Rd211c296f6cc4e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ca204de283441f" /><Relationship Type="http://schemas.openxmlformats.org/officeDocument/2006/relationships/notesMaster" Target="/ppt/notesMasters/notesMaster1.xml" Id="R4904ad0d3ba840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234e5a1f04b94" /><Relationship Type="http://schemas.openxmlformats.org/officeDocument/2006/relationships/notesMaster" Target="/ppt/notesMasters/notesMaster1.xml" Id="R10a77d252e5148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c73ca2761a4a04" /><Relationship Type="http://schemas.openxmlformats.org/officeDocument/2006/relationships/notesMaster" Target="/ppt/notesMasters/notesMaster1.xml" Id="R0ad6f402fa3845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brand positioning: repository lib/brand.ts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Buyer problems synthesized from Yorkstead project workflows; no external quantitative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positioning and repository case-study narratives.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C:\Users\4twen\dev\yorkstead-website\public\media\sic\floor.png</a:t>
            </a:r>
          </a:p>
          <a:p xmlns:a="http://schemas.openxmlformats.org/drawingml/2006/main">
            <a:r>
              <a:t>- Repository project documentation and case-study limitations.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C:\Users\4twen\dev\yorkstead-website\public\media\sic\floor.png</a:t>
            </a:r>
          </a:p>
          <a:p xmlns:a="http://schemas.openxmlformats.org/drawingml/2006/main">
            <a:r>
              <a:t>- C:\Users\4twen\dev\yorkstead-website\public\media\sic\kitchen.png</a:t>
            </a:r>
          </a:p>
          <a:p xmlns:a="http://schemas.openxmlformats.org/drawingml/2006/main">
            <a:r>
              <a:t>- C:\Users\4twen\dev\yorkstead-website\public\media\sic\analytics.png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Engagement framing from yorkstead.com services, packages, and workflow-audit content.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contact and engagement positioning.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91609405b40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59cffeb8044715" /><Relationship Type="http://schemas.openxmlformats.org/officeDocument/2006/relationships/slideLayout" Target="/ppt/slideLayouts/slideLayout1.xml" Id="Rff4bb2c14abd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bb2c14abd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9f41d76b04c4c" /><Relationship Type="http://schemas.openxmlformats.org/officeDocument/2006/relationships/notesSlide" Target="/ppt/notesSlides/notesSlide1.xml" Id="R606150b9118543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491d6019a4eba" /><Relationship Type="http://schemas.openxmlformats.org/officeDocument/2006/relationships/notesSlide" Target="/ppt/notesSlides/notesSlide2.xml" Id="R2aeddea580f3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93f325dc54ed0" /><Relationship Type="http://schemas.openxmlformats.org/officeDocument/2006/relationships/notesSlide" Target="/ppt/notesSlides/notesSlide3.xml" Id="Rb4a5e5babb5c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26a243e0545ba" /><Relationship Type="http://schemas.openxmlformats.org/officeDocument/2006/relationships/image" Target="/ppt/media/image.png" Id="Rac72dd458acb45db" /><Relationship Type="http://schemas.openxmlformats.org/officeDocument/2006/relationships/notesSlide" Target="/ppt/notesSlides/notesSlide4.xml" Id="R71c7796f2e08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57b0859d9440c" /><Relationship Type="http://schemas.openxmlformats.org/officeDocument/2006/relationships/image" Target="/ppt/media/image2.png" Id="R563e1cd933044355" /><Relationship Type="http://schemas.openxmlformats.org/officeDocument/2006/relationships/image" Target="/ppt/media/image3.png" Id="R4702f216a5014d3e" /><Relationship Type="http://schemas.openxmlformats.org/officeDocument/2006/relationships/image" Target="/ppt/media/image4.png" Id="Rd0619de24cc34590" /><Relationship Type="http://schemas.openxmlformats.org/officeDocument/2006/relationships/notesSlide" Target="/ppt/notesSlides/notesSlide5.xml" Id="R9b20e379de0045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c532e91fa41db" /><Relationship Type="http://schemas.openxmlformats.org/officeDocument/2006/relationships/notesSlide" Target="/ppt/notesSlides/notesSlide6.xml" Id="R7cb1c09e7f2b44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af8090cba420d" /><Relationship Type="http://schemas.openxmlformats.org/officeDocument/2006/relationships/notesSlide" Target="/ppt/notesSlides/notesSlide7.xml" Id="R2f154c1360704a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88FE5ABB-02C4-4334-BBC2-56917BFB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0"/>
            <a:ext cx="455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1F0A5F8-5F71-43FB-85B6-FBD22C77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3" name="sector">
            <a:extLst xmlns:a="http://schemas.openxmlformats.org/drawingml/2006/main">
              <a:ext uri="{FF2B5EF4-FFF2-40B4-BE49-F238E27FC236}">
                <a16:creationId xmlns:a16="http://schemas.microsoft.com/office/drawing/2014/main" id="{35CC52DA-9905-4DFA-A1E7-1BC18DBA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RESTAURANTS + POS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FEC09F8B-480E-4828-AD93-70307751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One live table. Everyone sees what they need.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50896216-012A-411F-B6BD-34EAD53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A restaurant operating system concept that connects guests, servers, kitchen stations, expo, managers, and service analytics.</a:t>
            </a:r>
          </a:p>
        </p:txBody>
      </p:sp>
      <p:sp>
        <p:nvSpPr>
          <p:cNvPr id="6" name="contact">
            <a:extLst xmlns:a="http://schemas.openxmlformats.org/drawingml/2006/main">
              <a:ext uri="{FF2B5EF4-FFF2-40B4-BE49-F238E27FC236}">
                <a16:creationId xmlns:a16="http://schemas.microsoft.com/office/drawing/2014/main" id="{56F903D0-F541-41F5-9333-4E957962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Brandon York  •  hello@yorkstead.com  •  yorkstead.com</a:t>
            </a:r>
          </a:p>
        </p:txBody>
      </p:sp>
      <p:sp>
        <p:nvSpPr>
          <p:cNvPr id="7" name="accent-copy">
            <a:extLst xmlns:a="http://schemas.openxmlformats.org/drawingml/2006/main">
              <a:ext uri="{FF2B5EF4-FFF2-40B4-BE49-F238E27FC236}">
                <a16:creationId xmlns:a16="http://schemas.microsoft.com/office/drawing/2014/main" id="{FE43E0E0-500D-479A-9B8B-31F9FBE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42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THAT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KEEPS REAL-WORLD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 MOVING.</a:t>
            </a:r>
          </a:p>
        </p:txBody>
      </p:sp>
    </p:spTree>
    <p:extLst>
      <p:ext uri="{BB962C8B-B14F-4D97-AF65-F5344CB8AC3E}">
        <p14:creationId xmlns:p14="http://schemas.microsoft.com/office/powerpoint/2010/main" val="470841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09559695-F276-4DB4-A3BC-2DBFD5E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RESTAURANTS + POS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D9F174-1D4D-4C7A-952F-8653AE97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The expensive part is the handoff nobody owns.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AA9000-D125-453D-8E2A-B4FDE24C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8EF052D-5E77-4A9A-8EB3-B54ED86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AF2F1A-B489-4873-9E51-7B8B3BB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pain-num-0">
            <a:extLst xmlns:a="http://schemas.openxmlformats.org/drawingml/2006/main">
              <a:ext uri="{FF2B5EF4-FFF2-40B4-BE49-F238E27FC236}">
                <a16:creationId xmlns:a16="http://schemas.microsoft.com/office/drawing/2014/main" id="{91782F0D-E8BF-459D-93F5-C69037C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ain-0">
            <a:extLst xmlns:a="http://schemas.openxmlformats.org/drawingml/2006/main">
              <a:ext uri="{FF2B5EF4-FFF2-40B4-BE49-F238E27FC236}">
                <a16:creationId xmlns:a16="http://schemas.microsoft.com/office/drawing/2014/main" id="{06D28DE9-7968-41E2-A0B2-65832CC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573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Servers carry requests, coursing, handoffs, and split checks in their heads.</a:t>
            </a:r>
          </a:p>
        </p:txBody>
      </p:sp>
      <p:sp>
        <p:nvSpPr>
          <p:cNvPr id="8" name="pain-rule-0">
            <a:extLst xmlns:a="http://schemas.openxmlformats.org/drawingml/2006/main">
              <a:ext uri="{FF2B5EF4-FFF2-40B4-BE49-F238E27FC236}">
                <a16:creationId xmlns:a16="http://schemas.microsoft.com/office/drawing/2014/main" id="{1A03C5F1-4D74-4DED-B145-2EAF47DD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1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n-num-1">
            <a:extLst xmlns:a="http://schemas.openxmlformats.org/drawingml/2006/main">
              <a:ext uri="{FF2B5EF4-FFF2-40B4-BE49-F238E27FC236}">
                <a16:creationId xmlns:a16="http://schemas.microsoft.com/office/drawing/2014/main" id="{EB6A9BA6-A2DA-477C-A067-09656540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ain-1">
            <a:extLst xmlns:a="http://schemas.openxmlformats.org/drawingml/2006/main">
              <a:ext uri="{FF2B5EF4-FFF2-40B4-BE49-F238E27FC236}">
                <a16:creationId xmlns:a16="http://schemas.microsoft.com/office/drawing/2014/main" id="{CE9842DF-2B17-4B5D-943D-EB2522B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Guest, kitchen, and manager tools see fragments of the same meal.</a:t>
            </a:r>
          </a:p>
        </p:txBody>
      </p:sp>
      <p:sp>
        <p:nvSpPr>
          <p:cNvPr id="11" name="pain-rule-1">
            <a:extLst xmlns:a="http://schemas.openxmlformats.org/drawingml/2006/main">
              <a:ext uri="{FF2B5EF4-FFF2-40B4-BE49-F238E27FC236}">
                <a16:creationId xmlns:a16="http://schemas.microsoft.com/office/drawing/2014/main" id="{E75044BB-8D8D-4548-B324-69D10C9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in-num-2">
            <a:extLst xmlns:a="http://schemas.openxmlformats.org/drawingml/2006/main">
              <a:ext uri="{FF2B5EF4-FFF2-40B4-BE49-F238E27FC236}">
                <a16:creationId xmlns:a16="http://schemas.microsoft.com/office/drawing/2014/main" id="{C297DFE5-16D8-4BD0-BBD9-CC21C682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ain-2">
            <a:extLst xmlns:a="http://schemas.openxmlformats.org/drawingml/2006/main">
              <a:ext uri="{FF2B5EF4-FFF2-40B4-BE49-F238E27FC236}">
                <a16:creationId xmlns:a16="http://schemas.microsoft.com/office/drawing/2014/main" id="{CF0AA58D-72D6-41E9-B27E-305E55F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Operators learn why service slipped only after the shift.</a:t>
            </a:r>
          </a:p>
        </p:txBody>
      </p:sp>
      <p:sp>
        <p:nvSpPr>
          <p:cNvPr id="14" name="pain-rule-2">
            <a:extLst xmlns:a="http://schemas.openxmlformats.org/drawingml/2006/main">
              <a:ext uri="{FF2B5EF4-FFF2-40B4-BE49-F238E27FC236}">
                <a16:creationId xmlns:a16="http://schemas.microsoft.com/office/drawing/2014/main" id="{7FFE9985-AD51-4C14-A1C0-90B62BFF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3301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0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04532109-3981-4D4D-A53E-FDE28695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RESTAURANTS + POS</a:t>
            </a:r>
          </a:p>
        </p:txBody>
      </p:sp>
      <p:sp>
        <p:nvSpPr>
          <p:cNvPr id="2" name="promise">
            <a:extLst xmlns:a="http://schemas.openxmlformats.org/drawingml/2006/main">
              <a:ext uri="{FF2B5EF4-FFF2-40B4-BE49-F238E27FC236}">
                <a16:creationId xmlns:a16="http://schemas.microsoft.com/office/drawing/2014/main" id="{D0758912-C97E-429A-9C74-6CB6D4A3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shared table session becomes the source of truth for the entire service.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1B25B71-F5DC-450A-9604-220E3D93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The useful system is not the one with the most features. It is the one that keeps context attached as work moves between people, decisions, and tools.</a:t>
            </a:r>
          </a:p>
        </p:txBody>
      </p:sp>
      <p:sp>
        <p:nvSpPr>
          <p:cNvPr id="4" name="signal">
            <a:extLst xmlns:a="http://schemas.openxmlformats.org/drawingml/2006/main">
              <a:ext uri="{FF2B5EF4-FFF2-40B4-BE49-F238E27FC236}">
                <a16:creationId xmlns:a16="http://schemas.microsoft.com/office/drawing/2014/main" id="{1AB102DE-5215-499E-8619-B5F297F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copy">
            <a:extLst xmlns:a="http://schemas.openxmlformats.org/drawingml/2006/main">
              <a:ext uri="{FF2B5EF4-FFF2-40B4-BE49-F238E27FC236}">
                <a16:creationId xmlns:a16="http://schemas.microsoft.com/office/drawing/2014/main" id="{573F8037-0ACE-4E09-8D99-E32B26B4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38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2552611-7074-4688-8A38-8EC47286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9F3F5AB-E2AF-46A3-93BA-1A03731B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5252B0C-8406-4A63-A9C8-6CC4212B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0659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FB890C2-3A0C-476C-9CED-90EBAD2B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RESTAURANTS + POS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D0174D-F63C-4D46-A512-32EF60F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Designed around hospitality roles, not a single checkout screen.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DBDE5A-DBD6-4F17-8E3C-01949EA7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41A754D-D152-497A-907A-B9D7DFDE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CABE197-9763-4CEA-9F77-21541D37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proof-body">
            <a:extLst xmlns:a="http://schemas.openxmlformats.org/drawingml/2006/main">
              <a:ext uri="{FF2B5EF4-FFF2-40B4-BE49-F238E27FC236}">
                <a16:creationId xmlns:a16="http://schemas.microsoft.com/office/drawing/2014/main" id="{C32D3097-C3EA-4A35-947D-2951BFF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905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SIC Pizza demonstrates phone-first floor management, guest QR participation, station-specific kitchen queues, handoffs, manager interventions, and service analytics. Payment and production integrations remain implementation work—not simulated success claims.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2dd458acb45db"/>
          <a:srcRect xmlns:a="http://schemas.openxmlformats.org/drawingml/2006/main" l="0" t="5028" r="0" b="5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00200"/>
            <a:ext cx="6572250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image-caption-bg">
            <a:extLst xmlns:a="http://schemas.openxmlformats.org/drawingml/2006/main">
              <a:ext uri="{FF2B5EF4-FFF2-40B4-BE49-F238E27FC236}">
                <a16:creationId xmlns:a16="http://schemas.microsoft.com/office/drawing/2014/main" id="{F3FA8497-77FD-4CC8-A7CE-0E2EED2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82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C1E947B6-4C2B-47D9-95BA-CDA250E5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24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dining room</a:t>
            </a:r>
          </a:p>
        </p:txBody>
      </p:sp>
    </p:spTree>
    <p:extLst>
      <p:ext uri="{BB962C8B-B14F-4D97-AF65-F5344CB8AC3E}">
        <p14:creationId xmlns:p14="http://schemas.microsoft.com/office/powerpoint/2010/main" val="456668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B3C3529C-4658-4215-A0B8-4515640C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RESTAURANTS + POS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A6B333-09AC-4446-968D-6859948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Proof you can point to—not promises you have to explain.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89A1C9-5740-43A3-A861-35B189BB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856F95C-F7EA-4EBC-8207-8F9D9A2D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DC17122-EDEA-4098-94F2-BDEC6D49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e1cd933044355"/>
          <a:srcRect xmlns:a="http://schemas.openxmlformats.org/drawingml/2006/main" l="5736" t="0" r="5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cap-0">
            <a:extLst xmlns:a="http://schemas.openxmlformats.org/drawingml/2006/main">
              <a:ext uri="{FF2B5EF4-FFF2-40B4-BE49-F238E27FC236}">
                <a16:creationId xmlns:a16="http://schemas.microsoft.com/office/drawing/2014/main" id="{7C36C3AA-FF07-4376-98E9-31160CED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Live dining room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2f216a5014d3e"/>
          <a:srcRect xmlns:a="http://schemas.openxmlformats.org/drawingml/2006/main" l="5736" t="0" r="5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cap-1">
            <a:extLst xmlns:a="http://schemas.openxmlformats.org/drawingml/2006/main">
              <a:ext uri="{FF2B5EF4-FFF2-40B4-BE49-F238E27FC236}">
                <a16:creationId xmlns:a16="http://schemas.microsoft.com/office/drawing/2014/main" id="{C6F32744-638E-49EF-BA69-12ADF588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Multi-station KDS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19de24cc34590"/>
          <a:srcRect xmlns:a="http://schemas.openxmlformats.org/drawingml/2006/main" l="5736" t="0" r="5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cap-2">
            <a:extLst xmlns:a="http://schemas.openxmlformats.org/drawingml/2006/main">
              <a:ext uri="{FF2B5EF4-FFF2-40B4-BE49-F238E27FC236}">
                <a16:creationId xmlns:a16="http://schemas.microsoft.com/office/drawing/2014/main" id="{D7AC4ED2-7896-41D5-AB46-D52A1C2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Service analytics</a:t>
            </a:r>
          </a:p>
        </p:txBody>
      </p:sp>
      <p:sp>
        <p:nvSpPr>
          <p:cNvPr id="12" name="proof-note">
            <a:extLst xmlns:a="http://schemas.openxmlformats.org/drawingml/2006/main">
              <a:ext uri="{FF2B5EF4-FFF2-40B4-BE49-F238E27FC236}">
                <a16:creationId xmlns:a16="http://schemas.microsoft.com/office/drawing/2014/main" id="{6CBA8C33-1EAC-43A1-9533-9B4949E8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These are working interfaces and documented prototypes. Where outcomes have not been measured, the deck says so.</a:t>
            </a:r>
          </a:p>
        </p:txBody>
      </p:sp>
    </p:spTree>
    <p:extLst>
      <p:ext uri="{BB962C8B-B14F-4D97-AF65-F5344CB8AC3E}">
        <p14:creationId xmlns:p14="http://schemas.microsoft.com/office/powerpoint/2010/main" val="1820781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3BBCB77F-7C8E-41FE-B209-EEC18E4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RESTAURANTS + POS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BD97BC-9F29-46F6-9E92-D6B0479C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 focused first engagement creates momentum without a blank check.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238733-B709-4CE3-9783-7FC3F3E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B68A0A2-BEDC-4486-802C-FC2CD53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C8E7D9F-A0C0-4D26-AB79-DAECD695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first">
            <a:extLst xmlns:a="http://schemas.openxmlformats.org/drawingml/2006/main">
              <a:ext uri="{FF2B5EF4-FFF2-40B4-BE49-F238E27FC236}">
                <a16:creationId xmlns:a16="http://schemas.microsoft.com/office/drawing/2014/main" id="{E2F61EB2-6BE0-4C53-8ECC-0D9CBC92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Choose one service bottleneck—requests, kitchen flow, split checks, or handoff—and prove the workflow before replacing everything.</a:t>
            </a:r>
          </a:p>
        </p:txBody>
      </p:sp>
      <p:sp>
        <p:nvSpPr>
          <p:cNvPr id="7" name="opp-rule-0">
            <a:extLst xmlns:a="http://schemas.openxmlformats.org/drawingml/2006/main">
              <a:ext uri="{FF2B5EF4-FFF2-40B4-BE49-F238E27FC236}">
                <a16:creationId xmlns:a16="http://schemas.microsoft.com/office/drawing/2014/main" id="{8347A448-D560-4E3D-9626-59BD3433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p-0">
            <a:extLst xmlns:a="http://schemas.openxmlformats.org/drawingml/2006/main">
              <a:ext uri="{FF2B5EF4-FFF2-40B4-BE49-F238E27FC236}">
                <a16:creationId xmlns:a16="http://schemas.microsoft.com/office/drawing/2014/main" id="{DD5188A3-E475-4511-A93B-A651BA3A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Mobile server workflow</a:t>
            </a:r>
          </a:p>
        </p:txBody>
      </p:sp>
      <p:sp>
        <p:nvSpPr>
          <p:cNvPr id="9" name="opp-num-0">
            <a:extLst xmlns:a="http://schemas.openxmlformats.org/drawingml/2006/main">
              <a:ext uri="{FF2B5EF4-FFF2-40B4-BE49-F238E27FC236}">
                <a16:creationId xmlns:a16="http://schemas.microsoft.com/office/drawing/2014/main" id="{98B9A029-3CF8-4411-891B-C54121D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opp-rule-1">
            <a:extLst xmlns:a="http://schemas.openxmlformats.org/drawingml/2006/main">
              <a:ext uri="{FF2B5EF4-FFF2-40B4-BE49-F238E27FC236}">
                <a16:creationId xmlns:a16="http://schemas.microsoft.com/office/drawing/2014/main" id="{20836BAF-9552-4420-AB21-7937E0F3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p-1">
            <a:extLst xmlns:a="http://schemas.openxmlformats.org/drawingml/2006/main">
              <a:ext uri="{FF2B5EF4-FFF2-40B4-BE49-F238E27FC236}">
                <a16:creationId xmlns:a16="http://schemas.microsoft.com/office/drawing/2014/main" id="{3B06CBBD-50E7-4A55-8FFF-7430FA9F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Guest QR ordering</a:t>
            </a:r>
          </a:p>
        </p:txBody>
      </p:sp>
      <p:sp>
        <p:nvSpPr>
          <p:cNvPr id="12" name="opp-num-1">
            <a:extLst xmlns:a="http://schemas.openxmlformats.org/drawingml/2006/main">
              <a:ext uri="{FF2B5EF4-FFF2-40B4-BE49-F238E27FC236}">
                <a16:creationId xmlns:a16="http://schemas.microsoft.com/office/drawing/2014/main" id="{8A209323-24C2-4D37-A985-706AD888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opp-rule-2">
            <a:extLst xmlns:a="http://schemas.openxmlformats.org/drawingml/2006/main">
              <a:ext uri="{FF2B5EF4-FFF2-40B4-BE49-F238E27FC236}">
                <a16:creationId xmlns:a16="http://schemas.microsoft.com/office/drawing/2014/main" id="{E1956B55-1795-4819-A1C6-9570354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pp-2">
            <a:extLst xmlns:a="http://schemas.openxmlformats.org/drawingml/2006/main">
              <a:ext uri="{FF2B5EF4-FFF2-40B4-BE49-F238E27FC236}">
                <a16:creationId xmlns:a16="http://schemas.microsoft.com/office/drawing/2014/main" id="{C7398C50-F1AD-474D-BE53-15EF82DF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Kitchen display systems</a:t>
            </a:r>
          </a:p>
        </p:txBody>
      </p:sp>
      <p:sp>
        <p:nvSpPr>
          <p:cNvPr id="15" name="opp-num-2">
            <a:extLst xmlns:a="http://schemas.openxmlformats.org/drawingml/2006/main">
              <a:ext uri="{FF2B5EF4-FFF2-40B4-BE49-F238E27FC236}">
                <a16:creationId xmlns:a16="http://schemas.microsoft.com/office/drawing/2014/main" id="{3BE8A301-C252-4AAB-BFE1-4484067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opp-rule-3">
            <a:extLst xmlns:a="http://schemas.openxmlformats.org/drawingml/2006/main">
              <a:ext uri="{FF2B5EF4-FFF2-40B4-BE49-F238E27FC236}">
                <a16:creationId xmlns:a16="http://schemas.microsoft.com/office/drawing/2014/main" id="{97CFA67C-C6AE-497B-8CD6-D280DE65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p-3">
            <a:extLst xmlns:a="http://schemas.openxmlformats.org/drawingml/2006/main">
              <a:ext uri="{FF2B5EF4-FFF2-40B4-BE49-F238E27FC236}">
                <a16:creationId xmlns:a16="http://schemas.microsoft.com/office/drawing/2014/main" id="{E39B35BB-ECA1-41B6-9491-B43435F6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Shift handoffs</a:t>
            </a:r>
          </a:p>
        </p:txBody>
      </p:sp>
      <p:sp>
        <p:nvSpPr>
          <p:cNvPr id="18" name="opp-num-3">
            <a:extLst xmlns:a="http://schemas.openxmlformats.org/drawingml/2006/main">
              <a:ext uri="{FF2B5EF4-FFF2-40B4-BE49-F238E27FC236}">
                <a16:creationId xmlns:a16="http://schemas.microsoft.com/office/drawing/2014/main" id="{188EED76-D89E-445B-B19A-B0DF984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opp-rule-4">
            <a:extLst xmlns:a="http://schemas.openxmlformats.org/drawingml/2006/main">
              <a:ext uri="{FF2B5EF4-FFF2-40B4-BE49-F238E27FC236}">
                <a16:creationId xmlns:a16="http://schemas.microsoft.com/office/drawing/2014/main" id="{B0D6D94E-380E-4CE7-8AF8-22032C00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pp-4">
            <a:extLst xmlns:a="http://schemas.openxmlformats.org/drawingml/2006/main">
              <a:ext uri="{FF2B5EF4-FFF2-40B4-BE49-F238E27FC236}">
                <a16:creationId xmlns:a16="http://schemas.microsoft.com/office/drawing/2014/main" id="{F220F809-5C74-482B-B370-9AE17C51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Service metrics</a:t>
            </a:r>
          </a:p>
        </p:txBody>
      </p:sp>
      <p:sp>
        <p:nvSpPr>
          <p:cNvPr id="21" name="opp-num-4">
            <a:extLst xmlns:a="http://schemas.openxmlformats.org/drawingml/2006/main">
              <a:ext uri="{FF2B5EF4-FFF2-40B4-BE49-F238E27FC236}">
                <a16:creationId xmlns:a16="http://schemas.microsoft.com/office/drawing/2014/main" id="{F8F66A17-4502-4A45-9E80-C8F62F3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engagement">
            <a:extLst xmlns:a="http://schemas.openxmlformats.org/drawingml/2006/main">
              <a:ext uri="{FF2B5EF4-FFF2-40B4-BE49-F238E27FC236}">
                <a16:creationId xmlns:a16="http://schemas.microsoft.com/office/drawing/2014/main" id="{6088CB53-33D2-4D1A-BA21-9CFD3709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00200"/>
            <a:ext cx="15049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ngagement-copy">
            <a:extLst xmlns:a="http://schemas.openxmlformats.org/drawingml/2006/main">
              <a:ext uri="{FF2B5EF4-FFF2-40B4-BE49-F238E27FC236}">
                <a16:creationId xmlns:a16="http://schemas.microsoft.com/office/drawing/2014/main" id="{DB3694CA-D71F-43B9-ABE3-3999692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90700"/>
            <a:ext cx="10858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PRIORITIZE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HAND OFF</a:t>
            </a:r>
          </a:p>
        </p:txBody>
      </p:sp>
    </p:spTree>
    <p:extLst>
      <p:ext uri="{BB962C8B-B14F-4D97-AF65-F5344CB8AC3E}">
        <p14:creationId xmlns:p14="http://schemas.microsoft.com/office/powerpoint/2010/main" val="514653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2415D085-5E10-408C-AE4A-7D8B599D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2" name="close">
            <a:extLst xmlns:a="http://schemas.openxmlformats.org/drawingml/2006/main">
              <a:ext uri="{FF2B5EF4-FFF2-40B4-BE49-F238E27FC236}">
                <a16:creationId xmlns:a16="http://schemas.microsoft.com/office/drawing/2014/main" id="{75E4D2A6-EE5B-4BB1-9ECD-AD2E2345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add another screen to the restaurant.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 the service.</a:t>
            </a:r>
          </a:p>
        </p:txBody>
      </p:sp>
      <p:sp>
        <p:nvSpPr>
          <p:cNvPr id="3" name="ask">
            <a:extLst xmlns:a="http://schemas.openxmlformats.org/drawingml/2006/main">
              <a:ext uri="{FF2B5EF4-FFF2-40B4-BE49-F238E27FC236}">
                <a16:creationId xmlns:a16="http://schemas.microsoft.com/office/drawing/2014/main" id="{06FC5949-B0BD-453E-9038-C897E08C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Bring one broken workflow. We’ll identify the first useful system and the shortest path to shipping it.</a:t>
            </a:r>
          </a:p>
        </p:txBody>
      </p:sp>
      <p:sp>
        <p:nvSpPr>
          <p:cNvPr id="4" name="contact">
            <a:extLst xmlns:a="http://schemas.openxmlformats.org/drawingml/2006/main">
              <a:ext uri="{FF2B5EF4-FFF2-40B4-BE49-F238E27FC236}">
                <a16:creationId xmlns:a16="http://schemas.microsoft.com/office/drawing/2014/main" id="{33A40AFF-CFE9-43B3-8CDB-1D9598CE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hello@yorkstead.com  •  yorkstead.com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34DCCDD6-AC96-4719-AC26-0AA9ADC2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9468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2026-09-01T00:28:47.9690000Z</dcterms:created>
  <dcterms:modified xsi:type="dcterms:W3CDTF">2026-09-01T00:28:47.9690000Z</dcterms:modified>
</coreProperties>
</file>