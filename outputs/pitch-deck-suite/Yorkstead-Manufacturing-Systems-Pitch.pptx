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c2f6d3bcf244be" /><Relationship Type="http://schemas.openxmlformats.org/officeDocument/2006/relationships/extended-properties" Target="/docProps/app.xml" Id="R5bd8e7a4bd074d6d" /><Relationship Type="http://schemas.openxmlformats.org/officeDocument/2006/relationships/officeDocument" Target="/ppt/presentation.xml" Id="Red436f2249e046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0acb17f5224a40"/>
  </p:sldMasterIdLst>
  <p:notesMasterIdLst>
    <p:notesMasterId xmlns:r="http://schemas.openxmlformats.org/officeDocument/2006/relationships" r:id="Ra9962c1e9a684c4e"/>
  </p:notesMasterIdLst>
  <p:sldIdLst>
    <p:sldId xmlns:r="http://schemas.openxmlformats.org/officeDocument/2006/relationships" id="256" r:id="R990c47360a364a9b"/>
    <p:sldId xmlns:r="http://schemas.openxmlformats.org/officeDocument/2006/relationships" id="257" r:id="Rd3ecdc327b534f96"/>
    <p:sldId xmlns:r="http://schemas.openxmlformats.org/officeDocument/2006/relationships" id="258" r:id="R6ad21becc230420c"/>
    <p:sldId xmlns:r="http://schemas.openxmlformats.org/officeDocument/2006/relationships" id="259" r:id="Rf1ac51c166df4f90"/>
    <p:sldId xmlns:r="http://schemas.openxmlformats.org/officeDocument/2006/relationships" id="260" r:id="R1883f5333852487a"/>
    <p:sldId xmlns:r="http://schemas.openxmlformats.org/officeDocument/2006/relationships" id="261" r:id="Rc08339c8b89c4a82"/>
    <p:sldId xmlns:r="http://schemas.openxmlformats.org/officeDocument/2006/relationships" id="262" r:id="Re1aceaa515df46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48adceef0845e1" /><Relationship Type="http://schemas.openxmlformats.org/officeDocument/2006/relationships/slideMaster" Target="/ppt/slideMasters/slideMaster1.xml" Id="R090acb17f5224a40" /><Relationship Type="http://schemas.openxmlformats.org/officeDocument/2006/relationships/notesMaster" Target="/ppt/notesMasters/notesMaster1.xml" Id="Ra9962c1e9a684c4e" /><Relationship Type="http://schemas.openxmlformats.org/officeDocument/2006/relationships/presProps" Target="/ppt/presProps.xml" Id="Rab498380d0a0438a" /><Relationship Type="http://schemas.openxmlformats.org/officeDocument/2006/relationships/tableStyles" Target="/ppt/tableStyles.xml" Id="R970fcb80419b4ebc" /><Relationship Type="http://schemas.openxmlformats.org/officeDocument/2006/relationships/slide" Target="/ppt/slides/slide1.xml" Id="R990c47360a364a9b" /><Relationship Type="http://schemas.openxmlformats.org/officeDocument/2006/relationships/slide" Target="/ppt/slides/slide2.xml" Id="Rd3ecdc327b534f96" /><Relationship Type="http://schemas.openxmlformats.org/officeDocument/2006/relationships/slide" Target="/ppt/slides/slide3.xml" Id="R6ad21becc230420c" /><Relationship Type="http://schemas.openxmlformats.org/officeDocument/2006/relationships/slide" Target="/ppt/slides/slide4.xml" Id="Rf1ac51c166df4f90" /><Relationship Type="http://schemas.openxmlformats.org/officeDocument/2006/relationships/slide" Target="/ppt/slides/slide5.xml" Id="R1883f5333852487a" /><Relationship Type="http://schemas.openxmlformats.org/officeDocument/2006/relationships/slide" Target="/ppt/slides/slide6.xml" Id="Rc08339c8b89c4a82" /><Relationship Type="http://schemas.openxmlformats.org/officeDocument/2006/relationships/slide" Target="/ppt/slides/slide7.xml" Id="Re1aceaa515df46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0a0dddb7f4e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035106a90c4df9" /><Relationship Type="http://schemas.openxmlformats.org/officeDocument/2006/relationships/notesMaster" Target="/ppt/notesMasters/notesMaster1.xml" Id="Rb542efac53b647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e0d079a2af4705" /><Relationship Type="http://schemas.openxmlformats.org/officeDocument/2006/relationships/notesMaster" Target="/ppt/notesMasters/notesMaster1.xml" Id="R0a14d585c3de45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c75bee9c644361" /><Relationship Type="http://schemas.openxmlformats.org/officeDocument/2006/relationships/notesMaster" Target="/ppt/notesMasters/notesMaster1.xml" Id="Rc1b44259847d45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bcf860fb084a4a" /><Relationship Type="http://schemas.openxmlformats.org/officeDocument/2006/relationships/notesMaster" Target="/ppt/notesMasters/notesMaster1.xml" Id="Rbb92317d919444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7fabd3bcee441d" /><Relationship Type="http://schemas.openxmlformats.org/officeDocument/2006/relationships/notesMaster" Target="/ppt/notesMasters/notesMaster1.xml" Id="R7dde22f0d0534c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560929ec7346ba" /><Relationship Type="http://schemas.openxmlformats.org/officeDocument/2006/relationships/notesMaster" Target="/ppt/notesMasters/notesMaster1.xml" Id="R614b34d6171c4f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34dadda10a4677" /><Relationship Type="http://schemas.openxmlformats.org/officeDocument/2006/relationships/notesMaster" Target="/ppt/notesMasters/notesMaster1.xml" Id="R2333caeb738c4c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brand positioning: repository lib/brand.ts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Buyer problems synthesized from Yorkstead project workflows; no external quantitative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positioning and repository case-study narratives.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C:\Users\4twen\dev\yorkstead-website\public\media\ellwood\active-release.png</a:t>
            </a:r>
          </a:p>
          <a:p xmlns:a="http://schemas.openxmlformats.org/drawingml/2006/main">
            <a:r>
              <a:t>- Repository project documentation and case-study limitations.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C:\Users\4twen\dev\yorkstead-website\public\media\ellwood\active-release.png</a:t>
            </a:r>
          </a:p>
          <a:p xmlns:a="http://schemas.openxmlformats.org/drawingml/2006/main">
            <a:r>
              <a:t>- C:\Users\4twen\dev\yorkstead-website\public\media\ellwood\production.png</a:t>
            </a:r>
          </a:p>
          <a:p xmlns:a="http://schemas.openxmlformats.org/drawingml/2006/main">
            <a:r>
              <a:t>- C:\Users\4twen\dev\yorkstead-website\public\media\ellwood\reports.png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Engagement framing from yorkstead.com services, packages, and workflow-audit content.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contact and engagement positioning.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bcbbddd0b48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421080daa3437f" /><Relationship Type="http://schemas.openxmlformats.org/officeDocument/2006/relationships/slideLayout" Target="/ppt/slideLayouts/slideLayout1.xml" Id="R9feceb74d0ed48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eceb74d0ed48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1cd69ee014822" /><Relationship Type="http://schemas.openxmlformats.org/officeDocument/2006/relationships/notesSlide" Target="/ppt/notesSlides/notesSlide1.xml" Id="R0e513343b0bb41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20c27d6d5487d" /><Relationship Type="http://schemas.openxmlformats.org/officeDocument/2006/relationships/notesSlide" Target="/ppt/notesSlides/notesSlide2.xml" Id="R7a12556d9c2c46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0839968d94100" /><Relationship Type="http://schemas.openxmlformats.org/officeDocument/2006/relationships/notesSlide" Target="/ppt/notesSlides/notesSlide3.xml" Id="R3c2d6d5e5f144f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c6b360e764b46" /><Relationship Type="http://schemas.openxmlformats.org/officeDocument/2006/relationships/image" Target="/ppt/media/image.png" Id="R1d7098745a0f436d" /><Relationship Type="http://schemas.openxmlformats.org/officeDocument/2006/relationships/notesSlide" Target="/ppt/notesSlides/notesSlide4.xml" Id="R929f6ba2c28d45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dedbee2b745d1" /><Relationship Type="http://schemas.openxmlformats.org/officeDocument/2006/relationships/image" Target="/ppt/media/image2.png" Id="R60ecb20604ff4c27" /><Relationship Type="http://schemas.openxmlformats.org/officeDocument/2006/relationships/image" Target="/ppt/media/image3.png" Id="R1047f98b90704d3f" /><Relationship Type="http://schemas.openxmlformats.org/officeDocument/2006/relationships/image" Target="/ppt/media/image4.png" Id="R02e0322174114a08" /><Relationship Type="http://schemas.openxmlformats.org/officeDocument/2006/relationships/notesSlide" Target="/ppt/notesSlides/notesSlide5.xml" Id="Rcac1f37b172149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a431f9e9341d9" /><Relationship Type="http://schemas.openxmlformats.org/officeDocument/2006/relationships/notesSlide" Target="/ppt/notesSlides/notesSlide6.xml" Id="Rbb23bc6f2abf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ad406c94f46a9" /><Relationship Type="http://schemas.openxmlformats.org/officeDocument/2006/relationships/notesSlide" Target="/ppt/notesSlides/notesSlide7.xml" Id="R1c6f9940fd0848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5FBC9B64-BE81-416D-A8C8-10B02C7C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0"/>
            <a:ext cx="4552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7AA989F-3DD2-469C-A6FE-C9736E21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3" name="sector">
            <a:extLst xmlns:a="http://schemas.openxmlformats.org/drawingml/2006/main">
              <a:ext uri="{FF2B5EF4-FFF2-40B4-BE49-F238E27FC236}">
                <a16:creationId xmlns:a16="http://schemas.microsoft.com/office/drawing/2014/main" id="{C81763B0-19F5-48BD-AD9E-A56299F0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E6F3C7C5-C803-4D59-82D6-C255313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Keep production moving when the work changes.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A647B717-C42A-449C-A485-AEC32E8C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06C"/>
                </a:solidFill>
                <a:latin typeface="Arial"/>
                <a:ea typeface="Arial"/>
                <a:cs typeface="Arial"/>
              </a:rPr>
              <a:t>Practical software for release control, shop-floor execution, inventory, quality, and the handoffs between them.</a:t>
            </a:r>
          </a:p>
        </p:txBody>
      </p:sp>
      <p:sp>
        <p:nvSpPr>
          <p:cNvPr id="6" name="contact">
            <a:extLst xmlns:a="http://schemas.openxmlformats.org/drawingml/2006/main">
              <a:ext uri="{FF2B5EF4-FFF2-40B4-BE49-F238E27FC236}">
                <a16:creationId xmlns:a16="http://schemas.microsoft.com/office/drawing/2014/main" id="{034DA45C-5A1D-4980-BEFF-A4349AC5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Brandon York  •  hello@yorkstead.com  •  yorkstead.com</a:t>
            </a:r>
          </a:p>
        </p:txBody>
      </p:sp>
      <p:sp>
        <p:nvSpPr>
          <p:cNvPr id="7" name="accent-copy">
            <a:extLst xmlns:a="http://schemas.openxmlformats.org/drawingml/2006/main">
              <a:ext uri="{FF2B5EF4-FFF2-40B4-BE49-F238E27FC236}">
                <a16:creationId xmlns:a16="http://schemas.microsoft.com/office/drawing/2014/main" id="{9050FFBC-82FC-4EDD-AE15-95FF73DE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42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 THAT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KEEPS REAL-WORLD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 MOVING.</a:t>
            </a:r>
          </a:p>
        </p:txBody>
      </p:sp>
    </p:spTree>
    <p:extLst>
      <p:ext uri="{BB962C8B-B14F-4D97-AF65-F5344CB8AC3E}">
        <p14:creationId xmlns:p14="http://schemas.microsoft.com/office/powerpoint/2010/main" val="1265416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7E4F09B-D2C2-4CBF-B6BA-E33506FB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680CDB-F0A3-45B8-9B58-EB07C0A8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The expensive part is the handoff nobody owns.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FA3C595-4C66-4A1D-B4A8-153F9CBB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CA459AB-3B09-46EC-A3A9-2902D6C4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2806A3-A609-404C-9C41-2AF2D322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pain-num-0">
            <a:extLst xmlns:a="http://schemas.openxmlformats.org/drawingml/2006/main">
              <a:ext uri="{FF2B5EF4-FFF2-40B4-BE49-F238E27FC236}">
                <a16:creationId xmlns:a16="http://schemas.microsoft.com/office/drawing/2014/main" id="{AC5AD66D-EA4B-4FE9-B54D-56EBAA7B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ain-0">
            <a:extLst xmlns:a="http://schemas.openxmlformats.org/drawingml/2006/main">
              <a:ext uri="{FF2B5EF4-FFF2-40B4-BE49-F238E27FC236}">
                <a16:creationId xmlns:a16="http://schemas.microsoft.com/office/drawing/2014/main" id="{C689F069-679A-4C00-AE7B-8451E02A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573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Critical context lives across inboxes, folders, spreadsheets, and paper travelers.</a:t>
            </a:r>
          </a:p>
        </p:txBody>
      </p:sp>
      <p:sp>
        <p:nvSpPr>
          <p:cNvPr id="8" name="pain-rule-0">
            <a:extLst xmlns:a="http://schemas.openxmlformats.org/drawingml/2006/main">
              <a:ext uri="{FF2B5EF4-FFF2-40B4-BE49-F238E27FC236}">
                <a16:creationId xmlns:a16="http://schemas.microsoft.com/office/drawing/2014/main" id="{848F7F6A-4DDC-4D78-9257-931F02D2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1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n-num-1">
            <a:extLst xmlns:a="http://schemas.openxmlformats.org/drawingml/2006/main">
              <a:ext uri="{FF2B5EF4-FFF2-40B4-BE49-F238E27FC236}">
                <a16:creationId xmlns:a16="http://schemas.microsoft.com/office/drawing/2014/main" id="{4E4A66FD-1726-4F1D-85AF-3CE4EC96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ain-1">
            <a:extLst xmlns:a="http://schemas.openxmlformats.org/drawingml/2006/main">
              <a:ext uri="{FF2B5EF4-FFF2-40B4-BE49-F238E27FC236}">
                <a16:creationId xmlns:a16="http://schemas.microsoft.com/office/drawing/2014/main" id="{1B145DF7-35A7-4F6D-85F2-FB705CAC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527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Revision changes reach the floor late—or without a clear owner.</a:t>
            </a:r>
          </a:p>
        </p:txBody>
      </p:sp>
      <p:sp>
        <p:nvSpPr>
          <p:cNvPr id="11" name="pain-rule-1">
            <a:extLst xmlns:a="http://schemas.openxmlformats.org/drawingml/2006/main">
              <a:ext uri="{FF2B5EF4-FFF2-40B4-BE49-F238E27FC236}">
                <a16:creationId xmlns:a16="http://schemas.microsoft.com/office/drawing/2014/main" id="{6E913C4C-19E9-4595-B159-503ABF5F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in-num-2">
            <a:extLst xmlns:a="http://schemas.openxmlformats.org/drawingml/2006/main">
              <a:ext uri="{FF2B5EF4-FFF2-40B4-BE49-F238E27FC236}">
                <a16:creationId xmlns:a16="http://schemas.microsoft.com/office/drawing/2014/main" id="{0FEF3B26-1029-4666-BE78-0BDB263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ain-2">
            <a:extLst xmlns:a="http://schemas.openxmlformats.org/drawingml/2006/main">
              <a:ext uri="{FF2B5EF4-FFF2-40B4-BE49-F238E27FC236}">
                <a16:creationId xmlns:a16="http://schemas.microsoft.com/office/drawing/2014/main" id="{DA4D1B12-1A58-4758-BB93-410CE2E0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481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Managers reconstruct status after the delay has already cost time.</a:t>
            </a:r>
          </a:p>
        </p:txBody>
      </p:sp>
      <p:sp>
        <p:nvSpPr>
          <p:cNvPr id="14" name="pain-rule-2">
            <a:extLst xmlns:a="http://schemas.openxmlformats.org/drawingml/2006/main">
              <a:ext uri="{FF2B5EF4-FFF2-40B4-BE49-F238E27FC236}">
                <a16:creationId xmlns:a16="http://schemas.microsoft.com/office/drawing/2014/main" id="{203B0056-E58A-4F03-9E88-B68AD2C5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054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9838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0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CE827AC-E2E4-427F-8F42-DC175669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2" name="promise">
            <a:extLst xmlns:a="http://schemas.openxmlformats.org/drawingml/2006/main">
              <a:ext uri="{FF2B5EF4-FFF2-40B4-BE49-F238E27FC236}">
                <a16:creationId xmlns:a16="http://schemas.microsoft.com/office/drawing/2014/main" id="{65625351-717E-40BF-8E0F-0EF27C33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controlled operating path from release intake to shipment.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CE0F035-FCAC-41EC-BA7A-C143D10F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The useful system is not the one with the most features. It is the one that keeps context attached as work moves between people, decisions, and tools.</a:t>
            </a:r>
          </a:p>
        </p:txBody>
      </p:sp>
      <p:sp>
        <p:nvSpPr>
          <p:cNvPr id="4" name="signal">
            <a:extLst xmlns:a="http://schemas.openxmlformats.org/drawingml/2006/main">
              <a:ext uri="{FF2B5EF4-FFF2-40B4-BE49-F238E27FC236}">
                <a16:creationId xmlns:a16="http://schemas.microsoft.com/office/drawing/2014/main" id="{89D20349-94B0-498A-90EF-300D5D67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copy">
            <a:extLst xmlns:a="http://schemas.openxmlformats.org/drawingml/2006/main">
              <a:ext uri="{FF2B5EF4-FFF2-40B4-BE49-F238E27FC236}">
                <a16:creationId xmlns:a16="http://schemas.microsoft.com/office/drawing/2014/main" id="{00CBACA2-994C-435C-AA03-E55B7828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38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FF79373-294F-4575-A0F6-FBC53449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C887783-165A-4A14-8A30-EE2EA444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7DBB757-7A37-4B0D-8A73-75C6776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1561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3E0218D-BFF6-46EA-8157-FB759228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441C36-02AE-4CF1-9C8C-BFFD4D42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00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Built around real manufacturing work—not generic task management.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67EA2A8-5C3E-48ED-93C4-2DEA6D0D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20C58F6-8CCE-4891-9A91-43A1BFB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F655A50-6AD6-4FFF-9D11-73F0E88D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proof-body">
            <a:extLst xmlns:a="http://schemas.openxmlformats.org/drawingml/2006/main">
              <a:ext uri="{FF2B5EF4-FFF2-40B4-BE49-F238E27FC236}">
                <a16:creationId xmlns:a16="http://schemas.microsoft.com/office/drawing/2014/main" id="{71AA4664-AD34-42A4-BD33-B072000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905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06C"/>
                </a:solidFill>
                <a:latin typeface="Arial"/>
                <a:ea typeface="Arial"/>
                <a:cs typeface="Arial"/>
              </a:rPr>
              <a:t>Ellwood Flow connects release intake, controlled documents, production dispatch, inventory, QC, palletization, shipping, reports, and audit history. Yorkstead Operations shows how the same thinking adapts across manufacturing and fabrication workflows.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098745a0f436d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1600200"/>
            <a:ext cx="6572250" cy="3695700"/>
          </a:xfrm>
          <a:prstGeom xmlns:a="http://schemas.openxmlformats.org/drawingml/2006/main" prst="rect">
            <a:avLst/>
          </a:prstGeom>
        </p:spPr>
      </p:pic>
      <p:sp>
        <p:nvSpPr>
          <p:cNvPr id="8" name="image-caption-bg">
            <a:extLst xmlns:a="http://schemas.openxmlformats.org/drawingml/2006/main">
              <a:ext uri="{FF2B5EF4-FFF2-40B4-BE49-F238E27FC236}">
                <a16:creationId xmlns:a16="http://schemas.microsoft.com/office/drawing/2014/main" id="{1B5699FA-B9B8-429E-96CC-788E2561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482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4CD112F0-48AC-470C-B255-F5CCEEF2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24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Active release workspace</a:t>
            </a:r>
          </a:p>
        </p:txBody>
      </p:sp>
    </p:spTree>
    <p:extLst>
      <p:ext uri="{BB962C8B-B14F-4D97-AF65-F5344CB8AC3E}">
        <p14:creationId xmlns:p14="http://schemas.microsoft.com/office/powerpoint/2010/main" val="1032583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DB485B60-E054-4745-825B-1361161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EADE52-E3B4-40F8-89BF-BF688EC8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Proof you can point to—not promises you have to explain.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83A192-C183-447E-9FD3-D913533A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B8C5A86-67C1-4CAB-9B68-C3670CCB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FD295A9-B270-4156-9297-4324DD53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cb20604ff4c27"/>
          <a:srcRect xmlns:a="http://schemas.openxmlformats.org/drawingml/2006/main" l="10203" t="0" r="102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cap-0">
            <a:extLst xmlns:a="http://schemas.openxmlformats.org/drawingml/2006/main">
              <a:ext uri="{FF2B5EF4-FFF2-40B4-BE49-F238E27FC236}">
                <a16:creationId xmlns:a16="http://schemas.microsoft.com/office/drawing/2014/main" id="{679FCFBA-AF79-4968-BF27-3532ADE2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Active release workspace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7f98b90704d3f"/>
          <a:srcRect xmlns:a="http://schemas.openxmlformats.org/drawingml/2006/main" l="10345" t="0" r="103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cap-1">
            <a:extLst xmlns:a="http://schemas.openxmlformats.org/drawingml/2006/main">
              <a:ext uri="{FF2B5EF4-FFF2-40B4-BE49-F238E27FC236}">
                <a16:creationId xmlns:a16="http://schemas.microsoft.com/office/drawing/2014/main" id="{91A59961-10EC-4C20-9C2D-49F947C7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Production dispatch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0322174114a08"/>
          <a:srcRect xmlns:a="http://schemas.openxmlformats.org/drawingml/2006/main" l="10543" t="0" r="105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cap-2">
            <a:extLst xmlns:a="http://schemas.openxmlformats.org/drawingml/2006/main">
              <a:ext uri="{FF2B5EF4-FFF2-40B4-BE49-F238E27FC236}">
                <a16:creationId xmlns:a16="http://schemas.microsoft.com/office/drawing/2014/main" id="{3E55CCF4-2F57-4457-BAA0-6857598C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Operational reporting</a:t>
            </a:r>
          </a:p>
        </p:txBody>
      </p:sp>
      <p:sp>
        <p:nvSpPr>
          <p:cNvPr id="12" name="proof-note">
            <a:extLst xmlns:a="http://schemas.openxmlformats.org/drawingml/2006/main">
              <a:ext uri="{FF2B5EF4-FFF2-40B4-BE49-F238E27FC236}">
                <a16:creationId xmlns:a16="http://schemas.microsoft.com/office/drawing/2014/main" id="{6DD3A266-F78B-410D-8581-0C53D0C2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These are working interfaces and documented prototypes. Where outcomes have not been measured, the deck says so.</a:t>
            </a:r>
          </a:p>
        </p:txBody>
      </p:sp>
    </p:spTree>
    <p:extLst>
      <p:ext uri="{BB962C8B-B14F-4D97-AF65-F5344CB8AC3E}">
        <p14:creationId xmlns:p14="http://schemas.microsoft.com/office/powerpoint/2010/main" val="2020730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F109EE14-A307-4B6C-A7C8-6A430F39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CF8C66-FDA6-4656-B355-D7176D3A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8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 focused first engagement creates momentum without a blank check.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FB95BD6-E609-457D-AB67-0FC7160D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601A8FE-7211-49D3-883F-17446A31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43FEEE-8932-488E-AAB3-3A708ADF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first">
            <a:extLst xmlns:a="http://schemas.openxmlformats.org/drawingml/2006/main">
              <a:ext uri="{FF2B5EF4-FFF2-40B4-BE49-F238E27FC236}">
                <a16:creationId xmlns:a16="http://schemas.microsoft.com/office/drawing/2014/main" id="{1B183315-D33D-4816-BE45-4765D54C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Start with one costly handoff: map it, measure it, and ship a focused working system.</a:t>
            </a:r>
          </a:p>
        </p:txBody>
      </p:sp>
      <p:sp>
        <p:nvSpPr>
          <p:cNvPr id="7" name="opp-rule-0">
            <a:extLst xmlns:a="http://schemas.openxmlformats.org/drawingml/2006/main">
              <a:ext uri="{FF2B5EF4-FFF2-40B4-BE49-F238E27FC236}">
                <a16:creationId xmlns:a16="http://schemas.microsoft.com/office/drawing/2014/main" id="{6D30F2B2-7E37-4604-B66A-8132D792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p-0">
            <a:extLst xmlns:a="http://schemas.openxmlformats.org/drawingml/2006/main">
              <a:ext uri="{FF2B5EF4-FFF2-40B4-BE49-F238E27FC236}">
                <a16:creationId xmlns:a16="http://schemas.microsoft.com/office/drawing/2014/main" id="{0F8A7E75-E07C-46E8-B1E2-2D89FEF8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Release &amp; document control</a:t>
            </a:r>
          </a:p>
        </p:txBody>
      </p:sp>
      <p:sp>
        <p:nvSpPr>
          <p:cNvPr id="9" name="opp-num-0">
            <a:extLst xmlns:a="http://schemas.openxmlformats.org/drawingml/2006/main">
              <a:ext uri="{FF2B5EF4-FFF2-40B4-BE49-F238E27FC236}">
                <a16:creationId xmlns:a16="http://schemas.microsoft.com/office/drawing/2014/main" id="{F4F0C994-9384-4F6A-99FE-3EF9180C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opp-rule-1">
            <a:extLst xmlns:a="http://schemas.openxmlformats.org/drawingml/2006/main">
              <a:ext uri="{FF2B5EF4-FFF2-40B4-BE49-F238E27FC236}">
                <a16:creationId xmlns:a16="http://schemas.microsoft.com/office/drawing/2014/main" id="{A98282E5-7DAD-423F-9523-556E334B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p-1">
            <a:extLst xmlns:a="http://schemas.openxmlformats.org/drawingml/2006/main">
              <a:ext uri="{FF2B5EF4-FFF2-40B4-BE49-F238E27FC236}">
                <a16:creationId xmlns:a16="http://schemas.microsoft.com/office/drawing/2014/main" id="{F3E0AEA0-2AE5-40D1-AAA4-0C221592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Digital travelers &amp; scanning</a:t>
            </a:r>
          </a:p>
        </p:txBody>
      </p:sp>
      <p:sp>
        <p:nvSpPr>
          <p:cNvPr id="12" name="opp-num-1">
            <a:extLst xmlns:a="http://schemas.openxmlformats.org/drawingml/2006/main">
              <a:ext uri="{FF2B5EF4-FFF2-40B4-BE49-F238E27FC236}">
                <a16:creationId xmlns:a16="http://schemas.microsoft.com/office/drawing/2014/main" id="{540A55DA-0EC1-48E4-AD2A-B3999C3F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opp-rule-2">
            <a:extLst xmlns:a="http://schemas.openxmlformats.org/drawingml/2006/main">
              <a:ext uri="{FF2B5EF4-FFF2-40B4-BE49-F238E27FC236}">
                <a16:creationId xmlns:a16="http://schemas.microsoft.com/office/drawing/2014/main" id="{D2A3F2CD-53CA-474D-9903-AF15ECEE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pp-2">
            <a:extLst xmlns:a="http://schemas.openxmlformats.org/drawingml/2006/main">
              <a:ext uri="{FF2B5EF4-FFF2-40B4-BE49-F238E27FC236}">
                <a16:creationId xmlns:a16="http://schemas.microsoft.com/office/drawing/2014/main" id="{A0174ECC-FCDA-47AE-84CA-4CB54C99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Inventory &amp; purchasing</a:t>
            </a:r>
          </a:p>
        </p:txBody>
      </p:sp>
      <p:sp>
        <p:nvSpPr>
          <p:cNvPr id="15" name="opp-num-2">
            <a:extLst xmlns:a="http://schemas.openxmlformats.org/drawingml/2006/main">
              <a:ext uri="{FF2B5EF4-FFF2-40B4-BE49-F238E27FC236}">
                <a16:creationId xmlns:a16="http://schemas.microsoft.com/office/drawing/2014/main" id="{1BDE0F12-5010-4228-B988-DC4E595D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opp-rule-3">
            <a:extLst xmlns:a="http://schemas.openxmlformats.org/drawingml/2006/main">
              <a:ext uri="{FF2B5EF4-FFF2-40B4-BE49-F238E27FC236}">
                <a16:creationId xmlns:a16="http://schemas.microsoft.com/office/drawing/2014/main" id="{E8CD7639-2973-4AD2-8F13-E515C8DF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p-3">
            <a:extLst xmlns:a="http://schemas.openxmlformats.org/drawingml/2006/main">
              <a:ext uri="{FF2B5EF4-FFF2-40B4-BE49-F238E27FC236}">
                <a16:creationId xmlns:a16="http://schemas.microsoft.com/office/drawing/2014/main" id="{2C878153-8E03-4BB4-A543-6F5B80EF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Quality &amp; traceability</a:t>
            </a:r>
          </a:p>
        </p:txBody>
      </p:sp>
      <p:sp>
        <p:nvSpPr>
          <p:cNvPr id="18" name="opp-num-3">
            <a:extLst xmlns:a="http://schemas.openxmlformats.org/drawingml/2006/main">
              <a:ext uri="{FF2B5EF4-FFF2-40B4-BE49-F238E27FC236}">
                <a16:creationId xmlns:a16="http://schemas.microsoft.com/office/drawing/2014/main" id="{1FCBD9DC-CAA5-4299-880F-679DA4F3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opp-rule-4">
            <a:extLst xmlns:a="http://schemas.openxmlformats.org/drawingml/2006/main">
              <a:ext uri="{FF2B5EF4-FFF2-40B4-BE49-F238E27FC236}">
                <a16:creationId xmlns:a16="http://schemas.microsoft.com/office/drawing/2014/main" id="{78C597C5-3B88-4557-8848-DD3FF667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pp-4">
            <a:extLst xmlns:a="http://schemas.openxmlformats.org/drawingml/2006/main">
              <a:ext uri="{FF2B5EF4-FFF2-40B4-BE49-F238E27FC236}">
                <a16:creationId xmlns:a16="http://schemas.microsoft.com/office/drawing/2014/main" id="{5792974F-70A9-4A35-BABC-3BB2412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Production dashboards</a:t>
            </a:r>
          </a:p>
        </p:txBody>
      </p:sp>
      <p:sp>
        <p:nvSpPr>
          <p:cNvPr id="21" name="opp-num-4">
            <a:extLst xmlns:a="http://schemas.openxmlformats.org/drawingml/2006/main">
              <a:ext uri="{FF2B5EF4-FFF2-40B4-BE49-F238E27FC236}">
                <a16:creationId xmlns:a16="http://schemas.microsoft.com/office/drawing/2014/main" id="{B1A6A518-C51D-44A8-BF86-FD89AE0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engagement">
            <a:extLst xmlns:a="http://schemas.openxmlformats.org/drawingml/2006/main">
              <a:ext uri="{FF2B5EF4-FFF2-40B4-BE49-F238E27FC236}">
                <a16:creationId xmlns:a16="http://schemas.microsoft.com/office/drawing/2014/main" id="{97550871-B480-4335-9865-99C1F723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00200"/>
            <a:ext cx="15049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ngagement-copy">
            <a:extLst xmlns:a="http://schemas.openxmlformats.org/drawingml/2006/main">
              <a:ext uri="{FF2B5EF4-FFF2-40B4-BE49-F238E27FC236}">
                <a16:creationId xmlns:a16="http://schemas.microsoft.com/office/drawing/2014/main" id="{00322D19-2471-4426-81E6-CF219392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90700"/>
            <a:ext cx="10858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PRIORITIZE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VERIFY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HAND OFF</a:t>
            </a:r>
          </a:p>
        </p:txBody>
      </p:sp>
    </p:spTree>
    <p:extLst>
      <p:ext uri="{BB962C8B-B14F-4D97-AF65-F5344CB8AC3E}">
        <p14:creationId xmlns:p14="http://schemas.microsoft.com/office/powerpoint/2010/main" val="1987310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513CCC13-17CC-4EFC-B790-BBA36787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6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B6D9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2" name="close">
            <a:extLst xmlns:a="http://schemas.openxmlformats.org/drawingml/2006/main">
              <a:ext uri="{FF2B5EF4-FFF2-40B4-BE49-F238E27FC236}">
                <a16:creationId xmlns:a16="http://schemas.microsoft.com/office/drawing/2014/main" id="{0D317F3D-107B-4CA6-A6CF-E57D2941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00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operation does not need more software.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needs fewer broken handoffs.</a:t>
            </a:r>
          </a:p>
        </p:txBody>
      </p:sp>
      <p:sp>
        <p:nvSpPr>
          <p:cNvPr id="3" name="ask">
            <a:extLst xmlns:a="http://schemas.openxmlformats.org/drawingml/2006/main">
              <a:ext uri="{FF2B5EF4-FFF2-40B4-BE49-F238E27FC236}">
                <a16:creationId xmlns:a16="http://schemas.microsoft.com/office/drawing/2014/main" id="{4F25595F-F36F-4177-8652-5B37F873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Bring one broken workflow. We’ll identify the first useful system and the shortest path to shipping it.</a:t>
            </a:r>
          </a:p>
        </p:txBody>
      </p:sp>
      <p:sp>
        <p:nvSpPr>
          <p:cNvPr id="4" name="contact">
            <a:extLst xmlns:a="http://schemas.openxmlformats.org/drawingml/2006/main">
              <a:ext uri="{FF2B5EF4-FFF2-40B4-BE49-F238E27FC236}">
                <a16:creationId xmlns:a16="http://schemas.microsoft.com/office/drawing/2014/main" id="{68AB440B-EA41-4BFB-8341-C71977F9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hello@yorkstead.com  •  yorkstead.com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1B0E6F13-C56D-494C-A5DA-8C661F32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6D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4031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2026-09-01T00:28:44.1810000Z</dcterms:created>
  <dcterms:modified xsi:type="dcterms:W3CDTF">2026-09-01T00:28:44.1810000Z</dcterms:modified>
</coreProperties>
</file>