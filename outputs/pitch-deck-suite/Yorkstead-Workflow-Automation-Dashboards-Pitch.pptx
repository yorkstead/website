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90a8f58e3f4710" /><Relationship Type="http://schemas.openxmlformats.org/officeDocument/2006/relationships/extended-properties" Target="/docProps/app.xml" Id="R2c0e7567a002495e" /><Relationship Type="http://schemas.openxmlformats.org/officeDocument/2006/relationships/officeDocument" Target="/ppt/presentation.xml" Id="Re47d9587f82b4d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26cc6f7c6a4c18"/>
  </p:sldMasterIdLst>
  <p:notesMasterIdLst>
    <p:notesMasterId xmlns:r="http://schemas.openxmlformats.org/officeDocument/2006/relationships" r:id="Rda59f0a4c0f142b2"/>
  </p:notesMasterIdLst>
  <p:sldIdLst>
    <p:sldId xmlns:r="http://schemas.openxmlformats.org/officeDocument/2006/relationships" id="256" r:id="Ra84a205a41ed4f28"/>
    <p:sldId xmlns:r="http://schemas.openxmlformats.org/officeDocument/2006/relationships" id="257" r:id="R6734e418613c4d46"/>
    <p:sldId xmlns:r="http://schemas.openxmlformats.org/officeDocument/2006/relationships" id="258" r:id="R6a4638accdee4fa4"/>
    <p:sldId xmlns:r="http://schemas.openxmlformats.org/officeDocument/2006/relationships" id="259" r:id="Rb13c750727fc4dea"/>
    <p:sldId xmlns:r="http://schemas.openxmlformats.org/officeDocument/2006/relationships" id="260" r:id="Ra98d6a21af744ed5"/>
    <p:sldId xmlns:r="http://schemas.openxmlformats.org/officeDocument/2006/relationships" id="261" r:id="R50ef89858652463d"/>
    <p:sldId xmlns:r="http://schemas.openxmlformats.org/officeDocument/2006/relationships" id="262" r:id="R56fbcf3af70049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217912cf3d4b76" /><Relationship Type="http://schemas.openxmlformats.org/officeDocument/2006/relationships/slideMaster" Target="/ppt/slideMasters/slideMaster1.xml" Id="Rcd26cc6f7c6a4c18" /><Relationship Type="http://schemas.openxmlformats.org/officeDocument/2006/relationships/notesMaster" Target="/ppt/notesMasters/notesMaster1.xml" Id="Rda59f0a4c0f142b2" /><Relationship Type="http://schemas.openxmlformats.org/officeDocument/2006/relationships/presProps" Target="/ppt/presProps.xml" Id="R20f68a7cad554c85" /><Relationship Type="http://schemas.openxmlformats.org/officeDocument/2006/relationships/tableStyles" Target="/ppt/tableStyles.xml" Id="Race14485792046af" /><Relationship Type="http://schemas.openxmlformats.org/officeDocument/2006/relationships/slide" Target="/ppt/slides/slide1.xml" Id="Ra84a205a41ed4f28" /><Relationship Type="http://schemas.openxmlformats.org/officeDocument/2006/relationships/slide" Target="/ppt/slides/slide2.xml" Id="R6734e418613c4d46" /><Relationship Type="http://schemas.openxmlformats.org/officeDocument/2006/relationships/slide" Target="/ppt/slides/slide3.xml" Id="R6a4638accdee4fa4" /><Relationship Type="http://schemas.openxmlformats.org/officeDocument/2006/relationships/slide" Target="/ppt/slides/slide4.xml" Id="Rb13c750727fc4dea" /><Relationship Type="http://schemas.openxmlformats.org/officeDocument/2006/relationships/slide" Target="/ppt/slides/slide5.xml" Id="Ra98d6a21af744ed5" /><Relationship Type="http://schemas.openxmlformats.org/officeDocument/2006/relationships/slide" Target="/ppt/slides/slide6.xml" Id="R50ef89858652463d" /><Relationship Type="http://schemas.openxmlformats.org/officeDocument/2006/relationships/slide" Target="/ppt/slides/slide7.xml" Id="R56fbcf3af70049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b5f500251749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37dadbb75c420e" /><Relationship Type="http://schemas.openxmlformats.org/officeDocument/2006/relationships/notesMaster" Target="/ppt/notesMasters/notesMaster1.xml" Id="Rdab1209d705141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281d2068d54ba3" /><Relationship Type="http://schemas.openxmlformats.org/officeDocument/2006/relationships/notesMaster" Target="/ppt/notesMasters/notesMaster1.xml" Id="R2883d079fb6e4d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86220761da4733" /><Relationship Type="http://schemas.openxmlformats.org/officeDocument/2006/relationships/notesMaster" Target="/ppt/notesMasters/notesMaster1.xml" Id="Rb1345b27ceb14b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666d1f1247480d" /><Relationship Type="http://schemas.openxmlformats.org/officeDocument/2006/relationships/notesMaster" Target="/ppt/notesMasters/notesMaster1.xml" Id="Rb3243ddd445d49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47a00aadbf42a5" /><Relationship Type="http://schemas.openxmlformats.org/officeDocument/2006/relationships/notesMaster" Target="/ppt/notesMasters/notesMaster1.xml" Id="R1421a795643344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c3db2ccb2746da" /><Relationship Type="http://schemas.openxmlformats.org/officeDocument/2006/relationships/notesMaster" Target="/ppt/notesMasters/notesMaster1.xml" Id="R0104279f8e6d45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0d6c0b0dac4afe" /><Relationship Type="http://schemas.openxmlformats.org/officeDocument/2006/relationships/notesMaster" Target="/ppt/notesMasters/notesMaster1.xml" Id="R5eeae698d9af47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Yorkstead Systems brand positioning: repository lib/brand.ts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Buyer problems synthesized from Yorkstead project workflows; no external quantitative claim.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Yorkstead Systems positioning and repository case-study narratives.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C:\Users\4twen\dev\yorkstead-website\public\media\yorkstead-ops\pages\operations-7.png</a:t>
            </a:r>
          </a:p>
          <a:p xmlns:a="http://schemas.openxmlformats.org/drawingml/2006/main">
            <a:r>
              <a:t>- Repository project documentation and case-study limitations.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C:\Users\4twen\dev\yorkstead-website\public\media\yorkstead-ops\pages\operations-7.png</a:t>
            </a:r>
          </a:p>
          <a:p xmlns:a="http://schemas.openxmlformats.org/drawingml/2006/main">
            <a:r>
              <a:t>- C:\Users\4twen\dev\yorkstead-website\public\media\ellwood\reports.png</a:t>
            </a:r>
          </a:p>
          <a:p xmlns:a="http://schemas.openxmlformats.org/drawingml/2006/main">
            <a:r>
              <a:t>- C:\Users\4twen\dev\yorkstead-website\public\media\sic\analytics.png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Engagement framing from yorkstead.com services, packages, and workflow-audit content.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Yorkstead Systems contact and engagement positioning.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619a08769848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a1b8d41e504589" /><Relationship Type="http://schemas.openxmlformats.org/officeDocument/2006/relationships/slideLayout" Target="/ppt/slideLayouts/slideLayout1.xml" Id="R633cdbf61a104c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3cdbf61a104c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5dfb538e94f77" /><Relationship Type="http://schemas.openxmlformats.org/officeDocument/2006/relationships/notesSlide" Target="/ppt/notesSlides/notesSlide1.xml" Id="R1008c5b7d48045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68dd628c3417d" /><Relationship Type="http://schemas.openxmlformats.org/officeDocument/2006/relationships/notesSlide" Target="/ppt/notesSlides/notesSlide2.xml" Id="R392f49cb098b47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aad585bd840e6" /><Relationship Type="http://schemas.openxmlformats.org/officeDocument/2006/relationships/notesSlide" Target="/ppt/notesSlides/notesSlide3.xml" Id="R85571fe9bbc54d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4514c37a646ef" /><Relationship Type="http://schemas.openxmlformats.org/officeDocument/2006/relationships/image" Target="/ppt/media/image.png" Id="R19fe9417d35d4358" /><Relationship Type="http://schemas.openxmlformats.org/officeDocument/2006/relationships/notesSlide" Target="/ppt/notesSlides/notesSlide4.xml" Id="R1311681fd0704c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235b6b84d419a" /><Relationship Type="http://schemas.openxmlformats.org/officeDocument/2006/relationships/image" Target="/ppt/media/image2.png" Id="R85b4117ee3b5415d" /><Relationship Type="http://schemas.openxmlformats.org/officeDocument/2006/relationships/image" Target="/ppt/media/image3.png" Id="Rf85449c7393d4de2" /><Relationship Type="http://schemas.openxmlformats.org/officeDocument/2006/relationships/image" Target="/ppt/media/image4.png" Id="Rc51e50e2c15f4bcd" /><Relationship Type="http://schemas.openxmlformats.org/officeDocument/2006/relationships/notesSlide" Target="/ppt/notesSlides/notesSlide5.xml" Id="Rfa0abc085dcb46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550f6914042d7" /><Relationship Type="http://schemas.openxmlformats.org/officeDocument/2006/relationships/notesSlide" Target="/ppt/notesSlides/notesSlide6.xml" Id="R080de5ad4f3141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6ff7a7a124395" /><Relationship Type="http://schemas.openxmlformats.org/officeDocument/2006/relationships/notesSlide" Target="/ppt/notesSlides/notesSlide7.xml" Id="R1be2ee6855ca4e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ccent-field">
            <a:extLst xmlns:a="http://schemas.openxmlformats.org/drawingml/2006/main">
              <a:ext uri="{FF2B5EF4-FFF2-40B4-BE49-F238E27FC236}">
                <a16:creationId xmlns:a16="http://schemas.microsoft.com/office/drawing/2014/main" id="{BBB4C635-7EE9-4329-8FFB-EE100E50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0"/>
            <a:ext cx="4552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C8EAF218-1D17-4E9D-A55F-85F964FC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YORKSTEAD SYSTEMS</a:t>
            </a:r>
          </a:p>
        </p:txBody>
      </p:sp>
      <p:sp>
        <p:nvSpPr>
          <p:cNvPr id="3" name="sector">
            <a:extLst xmlns:a="http://schemas.openxmlformats.org/drawingml/2006/main">
              <a:ext uri="{FF2B5EF4-FFF2-40B4-BE49-F238E27FC236}">
                <a16:creationId xmlns:a16="http://schemas.microsoft.com/office/drawing/2014/main" id="{43008479-B962-4182-8FD3-96BCD9ED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9C6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9C66"/>
                </a:solidFill>
                <a:latin typeface="Arial"/>
                <a:ea typeface="Arial"/>
                <a:cs typeface="Arial"/>
              </a:rPr>
              <a:t>WORKFLOW + DATA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8F8A1B03-4DB0-48F4-9F4D-A2DDC48F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666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Turn scattered activity into visible, actionable work.</a:t>
            </a:r>
          </a:p>
        </p:txBody>
      </p:sp>
      <p:sp>
        <p:nvSpPr>
          <p:cNvPr id="5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C80B12D1-687A-4BF4-9630-50E44B18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06C"/>
                </a:solidFill>
                <a:latin typeface="Arial"/>
                <a:ea typeface="Arial"/>
                <a:cs typeface="Arial"/>
              </a:rPr>
              <a:t>Workflow automation, operational dashboards, and focused internal tools for owner-led teams.</a:t>
            </a:r>
          </a:p>
        </p:txBody>
      </p:sp>
      <p:sp>
        <p:nvSpPr>
          <p:cNvPr id="6" name="contact">
            <a:extLst xmlns:a="http://schemas.openxmlformats.org/drawingml/2006/main">
              <a:ext uri="{FF2B5EF4-FFF2-40B4-BE49-F238E27FC236}">
                <a16:creationId xmlns:a16="http://schemas.microsoft.com/office/drawing/2014/main" id="{954CF8CC-8EEA-4742-8104-2540EBA2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Brandon York  •  hello@yorkstead.com  •  yorkstead.com</a:t>
            </a:r>
          </a:p>
        </p:txBody>
      </p:sp>
      <p:sp>
        <p:nvSpPr>
          <p:cNvPr id="7" name="accent-copy">
            <a:extLst xmlns:a="http://schemas.openxmlformats.org/drawingml/2006/main">
              <a:ext uri="{FF2B5EF4-FFF2-40B4-BE49-F238E27FC236}">
                <a16:creationId xmlns:a16="http://schemas.microsoft.com/office/drawing/2014/main" id="{4669293A-4FD1-4EB1-B793-143A9972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05250"/>
            <a:ext cx="342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SOFTWARE THAT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KEEPS REAL-WORLD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 MOVING.</a:t>
            </a:r>
          </a:p>
        </p:txBody>
      </p:sp>
    </p:spTree>
    <p:extLst>
      <p:ext uri="{BB962C8B-B14F-4D97-AF65-F5344CB8AC3E}">
        <p14:creationId xmlns:p14="http://schemas.microsoft.com/office/powerpoint/2010/main" val="12483532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8A8CFAF6-DC8B-444D-B857-27B345D1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9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9C66"/>
                </a:solidFill>
                <a:latin typeface="Arial"/>
                <a:ea typeface="Arial"/>
                <a:cs typeface="Arial"/>
              </a:rPr>
              <a:t>WORKFLOW + DATA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0B192C-FD0E-4C7B-AD3B-DBBC4973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The expensive part is the handoff nobody owns.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49CEC09-A23A-4BFD-BB1E-C3DBFAA0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68A70AC4-BCEE-47CA-8E39-6230A1E6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YORKSTEAD SYSTEMS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1444A96-A5E0-499E-BB7C-0344B2E4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pain-num-0">
            <a:extLst xmlns:a="http://schemas.openxmlformats.org/drawingml/2006/main">
              <a:ext uri="{FF2B5EF4-FFF2-40B4-BE49-F238E27FC236}">
                <a16:creationId xmlns:a16="http://schemas.microsoft.com/office/drawing/2014/main" id="{ADC12947-5CB4-4EF5-85F6-0E563C2F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9C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9C6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pain-0">
            <a:extLst xmlns:a="http://schemas.openxmlformats.org/drawingml/2006/main">
              <a:ext uri="{FF2B5EF4-FFF2-40B4-BE49-F238E27FC236}">
                <a16:creationId xmlns:a16="http://schemas.microsoft.com/office/drawing/2014/main" id="{44024C23-39DA-4A8C-9A03-73714BB7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5735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People re-enter the same information across forms, spreadsheets, inboxes, and systems.</a:t>
            </a:r>
          </a:p>
        </p:txBody>
      </p:sp>
      <p:sp>
        <p:nvSpPr>
          <p:cNvPr id="8" name="pain-rule-0">
            <a:extLst xmlns:a="http://schemas.openxmlformats.org/drawingml/2006/main">
              <a:ext uri="{FF2B5EF4-FFF2-40B4-BE49-F238E27FC236}">
                <a16:creationId xmlns:a16="http://schemas.microsoft.com/office/drawing/2014/main" id="{7D668675-8601-4E54-8B31-FB670F81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146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in-num-1">
            <a:extLst xmlns:a="http://schemas.openxmlformats.org/drawingml/2006/main">
              <a:ext uri="{FF2B5EF4-FFF2-40B4-BE49-F238E27FC236}">
                <a16:creationId xmlns:a16="http://schemas.microsoft.com/office/drawing/2014/main" id="{0C4A488E-69D5-4E44-BA95-4FF26A50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9C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9C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ain-1">
            <a:extLst xmlns:a="http://schemas.openxmlformats.org/drawingml/2006/main">
              <a:ext uri="{FF2B5EF4-FFF2-40B4-BE49-F238E27FC236}">
                <a16:creationId xmlns:a16="http://schemas.microsoft.com/office/drawing/2014/main" id="{81E07EA9-BEE0-496B-A878-536C8C30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95275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Dashboards report history but do not show the next action or owner.</a:t>
            </a:r>
          </a:p>
        </p:txBody>
      </p:sp>
      <p:sp>
        <p:nvSpPr>
          <p:cNvPr id="11" name="pain-rule-1">
            <a:extLst xmlns:a="http://schemas.openxmlformats.org/drawingml/2006/main">
              <a:ext uri="{FF2B5EF4-FFF2-40B4-BE49-F238E27FC236}">
                <a16:creationId xmlns:a16="http://schemas.microsoft.com/office/drawing/2014/main" id="{4976A505-5273-433E-8AA0-4F4A041F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100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in-num-2">
            <a:extLst xmlns:a="http://schemas.openxmlformats.org/drawingml/2006/main">
              <a:ext uri="{FF2B5EF4-FFF2-40B4-BE49-F238E27FC236}">
                <a16:creationId xmlns:a16="http://schemas.microsoft.com/office/drawing/2014/main" id="{8398E127-274E-4BB9-807D-8C277C43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9C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9C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pain-2">
            <a:extLst xmlns:a="http://schemas.openxmlformats.org/drawingml/2006/main">
              <a:ext uri="{FF2B5EF4-FFF2-40B4-BE49-F238E27FC236}">
                <a16:creationId xmlns:a16="http://schemas.microsoft.com/office/drawing/2014/main" id="{A5DCA697-DC2E-47C5-8124-09B525D8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4815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Automation fails when it ignores exceptions, approvals, and human judgment.</a:t>
            </a:r>
          </a:p>
        </p:txBody>
      </p:sp>
      <p:sp>
        <p:nvSpPr>
          <p:cNvPr id="14" name="pain-rule-2">
            <a:extLst xmlns:a="http://schemas.openxmlformats.org/drawingml/2006/main">
              <a:ext uri="{FF2B5EF4-FFF2-40B4-BE49-F238E27FC236}">
                <a16:creationId xmlns:a16="http://schemas.microsoft.com/office/drawing/2014/main" id="{DAF26588-B5DD-48FB-BCC9-D283A990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1054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4C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170985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20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3B1DCC06-3CF1-4D7F-9BB3-FC57DDF2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9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9C66"/>
                </a:solidFill>
                <a:latin typeface="Arial"/>
                <a:ea typeface="Arial"/>
                <a:cs typeface="Arial"/>
              </a:rPr>
              <a:t>WORKFLOW + DATA</a:t>
            </a:r>
          </a:p>
        </p:txBody>
      </p:sp>
      <p:sp>
        <p:nvSpPr>
          <p:cNvPr id="2" name="promise">
            <a:extLst xmlns:a="http://schemas.openxmlformats.org/drawingml/2006/main">
              <a:ext uri="{FF2B5EF4-FFF2-40B4-BE49-F238E27FC236}">
                <a16:creationId xmlns:a16="http://schemas.microsoft.com/office/drawing/2014/main" id="{A5FA096B-E230-4758-8507-EF362B87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477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Connect the handoff, preserve the decision, and surface what needs attention now.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DE6F221-E106-43F9-A39A-706EE22C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657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7E0E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7E0E7"/>
                </a:solidFill>
                <a:latin typeface="Arial"/>
                <a:ea typeface="Arial"/>
                <a:cs typeface="Arial"/>
              </a:rPr>
              <a:t>The useful system is not the one with the most features. It is the one that keeps context attached as work moves between people, decisions, and tools.</a:t>
            </a:r>
          </a:p>
        </p:txBody>
      </p:sp>
      <p:sp>
        <p:nvSpPr>
          <p:cNvPr id="4" name="signal">
            <a:extLst xmlns:a="http://schemas.openxmlformats.org/drawingml/2006/main">
              <a:ext uri="{FF2B5EF4-FFF2-40B4-BE49-F238E27FC236}">
                <a16:creationId xmlns:a16="http://schemas.microsoft.com/office/drawing/2014/main" id="{92AAB14C-3823-49C7-A56E-8AC3D9DD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620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ignal-copy">
            <a:extLst xmlns:a="http://schemas.openxmlformats.org/drawingml/2006/main">
              <a:ext uri="{FF2B5EF4-FFF2-40B4-BE49-F238E27FC236}">
                <a16:creationId xmlns:a16="http://schemas.microsoft.com/office/drawing/2014/main" id="{6090F23A-42D1-4890-97D1-0B4CF210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66850"/>
            <a:ext cx="2381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SHARED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CONTEXT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CLEAR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 STEP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483E01E-6409-4741-BDB3-7F144174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B27F9D0E-9803-4E39-A7D2-C563F89A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YORKSTEAD SYSTEMS</a:t>
            </a:r>
          </a:p>
        </p:txBody>
      </p:sp>
      <p:sp>
        <p:nvSpPr>
          <p:cNvPr id="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61C3953-B02D-4870-8215-1922EF93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061597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20993A7D-6FAA-4605-B015-5297D1E2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9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9C66"/>
                </a:solidFill>
                <a:latin typeface="Arial"/>
                <a:ea typeface="Arial"/>
                <a:cs typeface="Arial"/>
              </a:rPr>
              <a:t>WORKFLOW + DATA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5AAED1-947A-474A-A9F1-9C731F02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149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The work spans intake, execution, exceptions, and measurement.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CDCC45B-EFB6-4D22-BF4E-89361AF4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AD369603-F6AC-45E4-8E81-076C10BA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YORKSTEAD SYSTEMS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BBCE8BA-5F0D-4151-9196-C5121D0B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proof-body">
            <a:extLst xmlns:a="http://schemas.openxmlformats.org/drawingml/2006/main">
              <a:ext uri="{FF2B5EF4-FFF2-40B4-BE49-F238E27FC236}">
                <a16:creationId xmlns:a16="http://schemas.microsoft.com/office/drawing/2014/main" id="{5972C1FF-6CF3-4064-B9DE-8AF118F8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3905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06C"/>
                </a:solidFill>
                <a:latin typeface="Arial"/>
                <a:ea typeface="Arial"/>
                <a:cs typeface="Arial"/>
              </a:rPr>
              <a:t>Yorkstead systems combine structured intake, shared records, explicit workflow state, dashboards, audit trails, and operational reporting. The implementation can sit beside existing tools or become a focused system where spreadsheets have reached their limit.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e9417d35d4358"/>
          <a:srcRect xmlns:a="http://schemas.openxmlformats.org/drawingml/2006/main" l="0" t="5059" r="0" b="50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9650" y="1600200"/>
            <a:ext cx="6572250" cy="3695700"/>
          </a:xfrm>
          <a:prstGeom xmlns:a="http://schemas.openxmlformats.org/drawingml/2006/main" prst="rect">
            <a:avLst/>
          </a:prstGeom>
        </p:spPr>
      </p:pic>
      <p:sp>
        <p:nvSpPr>
          <p:cNvPr id="8" name="image-caption-bg">
            <a:extLst xmlns:a="http://schemas.openxmlformats.org/drawingml/2006/main">
              <a:ext uri="{FF2B5EF4-FFF2-40B4-BE49-F238E27FC236}">
                <a16:creationId xmlns:a16="http://schemas.microsoft.com/office/drawing/2014/main" id="{58DB6644-33F9-48E4-92E8-B2028AE5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048250"/>
            <a:ext cx="657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mage-caption">
            <a:extLst xmlns:a="http://schemas.openxmlformats.org/drawingml/2006/main">
              <a:ext uri="{FF2B5EF4-FFF2-40B4-BE49-F238E27FC236}">
                <a16:creationId xmlns:a16="http://schemas.microsoft.com/office/drawing/2014/main" id="{625196D9-0DA0-4C70-8463-AFCF7E73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1244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Connected records and handoffs</a:t>
            </a:r>
          </a:p>
        </p:txBody>
      </p:sp>
    </p:spTree>
    <p:extLst>
      <p:ext uri="{BB962C8B-B14F-4D97-AF65-F5344CB8AC3E}">
        <p14:creationId xmlns:p14="http://schemas.microsoft.com/office/powerpoint/2010/main" val="15188514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13E906EB-A407-4212-9ABB-7DECC94B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9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9C66"/>
                </a:solidFill>
                <a:latin typeface="Arial"/>
                <a:ea typeface="Arial"/>
                <a:cs typeface="Arial"/>
              </a:rPr>
              <a:t>WORKFLOW + DATA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CCE0A4-F014-449A-93C9-13CC6458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Proof you can point to—not promises you have to explain.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36466DD-23D3-4D99-928C-0D457991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E8E09C6-8527-44D9-AA5A-3B89A2B2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YORKSTEAD SYSTEMS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7788706-A512-4C13-A411-AE5A8EBA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4117ee3b5415d"/>
          <a:srcRect xmlns:a="http://schemas.openxmlformats.org/drawingml/2006/main" l="5706" t="0" r="57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619250"/>
            <a:ext cx="3371850" cy="2381250"/>
          </a:xfrm>
          <a:prstGeom xmlns:a="http://schemas.openxmlformats.org/drawingml/2006/main" prst="rect">
            <a:avLst/>
          </a:prstGeom>
        </p:spPr>
      </p:pic>
      <p:sp>
        <p:nvSpPr>
          <p:cNvPr id="7" name="cap-0">
            <a:extLst xmlns:a="http://schemas.openxmlformats.org/drawingml/2006/main">
              <a:ext uri="{FF2B5EF4-FFF2-40B4-BE49-F238E27FC236}">
                <a16:creationId xmlns:a16="http://schemas.microsoft.com/office/drawing/2014/main" id="{EB1E8866-AF62-4808-822B-37E20098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3371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Connected records and handoffs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5449c7393d4de2"/>
          <a:srcRect xmlns:a="http://schemas.openxmlformats.org/drawingml/2006/main" l="10543" t="0" r="105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1619250"/>
            <a:ext cx="3371850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cap-1">
            <a:extLst xmlns:a="http://schemas.openxmlformats.org/drawingml/2006/main">
              <a:ext uri="{FF2B5EF4-FFF2-40B4-BE49-F238E27FC236}">
                <a16:creationId xmlns:a16="http://schemas.microsoft.com/office/drawing/2014/main" id="{BAC1BB49-1AE8-4331-BB85-E340518A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52900"/>
            <a:ext cx="3371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Manufacturing metrics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1e50e2c15f4bcd"/>
          <a:srcRect xmlns:a="http://schemas.openxmlformats.org/drawingml/2006/main" l="5736" t="0" r="57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81950" y="1619250"/>
            <a:ext cx="3371850" cy="2381250"/>
          </a:xfrm>
          <a:prstGeom xmlns:a="http://schemas.openxmlformats.org/drawingml/2006/main" prst="rect">
            <a:avLst/>
          </a:prstGeom>
        </p:spPr>
      </p:pic>
      <p:sp>
        <p:nvSpPr>
          <p:cNvPr id="11" name="cap-2">
            <a:extLst xmlns:a="http://schemas.openxmlformats.org/drawingml/2006/main">
              <a:ext uri="{FF2B5EF4-FFF2-40B4-BE49-F238E27FC236}">
                <a16:creationId xmlns:a16="http://schemas.microsoft.com/office/drawing/2014/main" id="{9174FF1A-7531-44ED-AE7C-421261EA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52900"/>
            <a:ext cx="3371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Service telemetry</a:t>
            </a:r>
          </a:p>
        </p:txBody>
      </p:sp>
      <p:sp>
        <p:nvSpPr>
          <p:cNvPr id="12" name="proof-note">
            <a:extLst xmlns:a="http://schemas.openxmlformats.org/drawingml/2006/main">
              <a:ext uri="{FF2B5EF4-FFF2-40B4-BE49-F238E27FC236}">
                <a16:creationId xmlns:a16="http://schemas.microsoft.com/office/drawing/2014/main" id="{8665CFDB-6437-480E-9CF8-A35CD089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These are working interfaces and documented prototypes. Where outcomes have not been measured, the deck says so.</a:t>
            </a:r>
          </a:p>
        </p:txBody>
      </p:sp>
    </p:spTree>
    <p:extLst>
      <p:ext uri="{BB962C8B-B14F-4D97-AF65-F5344CB8AC3E}">
        <p14:creationId xmlns:p14="http://schemas.microsoft.com/office/powerpoint/2010/main" val="9237762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6E1203AC-43AB-4054-80A2-D7D81027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9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9C66"/>
                </a:solidFill>
                <a:latin typeface="Arial"/>
                <a:ea typeface="Arial"/>
                <a:cs typeface="Arial"/>
              </a:rPr>
              <a:t>WORKFLOW + DATA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424A1B-F787-4118-9A8F-E61E1B23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846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A focused first engagement creates momentum without a blank check.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6904D13-B5A4-4D02-8A43-2425CE09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306DA406-5235-420C-8DE5-4F6FC5B3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YORKSTEAD SYSTEMS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0A24CFB-BC81-4775-A42E-2C2884B2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first">
            <a:extLst xmlns:a="http://schemas.openxmlformats.org/drawingml/2006/main">
              <a:ext uri="{FF2B5EF4-FFF2-40B4-BE49-F238E27FC236}">
                <a16:creationId xmlns:a16="http://schemas.microsoft.com/office/drawing/2014/main" id="{C4110AD5-DB55-4857-BD61-B6B82566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Begin with the repeated handoff that consumes attention every week. Make it visible, measurable, and easier to complete.</a:t>
            </a:r>
          </a:p>
        </p:txBody>
      </p:sp>
      <p:sp>
        <p:nvSpPr>
          <p:cNvPr id="7" name="opp-rule-0">
            <a:extLst xmlns:a="http://schemas.openxmlformats.org/drawingml/2006/main">
              <a:ext uri="{FF2B5EF4-FFF2-40B4-BE49-F238E27FC236}">
                <a16:creationId xmlns:a16="http://schemas.microsoft.com/office/drawing/2014/main" id="{9A28DE55-D94F-4FDA-86B4-D7EFF786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C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pp-0">
            <a:extLst xmlns:a="http://schemas.openxmlformats.org/drawingml/2006/main">
              <a:ext uri="{FF2B5EF4-FFF2-40B4-BE49-F238E27FC236}">
                <a16:creationId xmlns:a16="http://schemas.microsoft.com/office/drawing/2014/main" id="{A85574D3-442B-4E2C-863E-9188FF02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9C6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9C66"/>
                </a:solidFill>
                <a:latin typeface="Arial"/>
                <a:ea typeface="Arial"/>
                <a:cs typeface="Arial"/>
              </a:rPr>
              <a:t>Workflow audit</a:t>
            </a:r>
          </a:p>
        </p:txBody>
      </p:sp>
      <p:sp>
        <p:nvSpPr>
          <p:cNvPr id="9" name="opp-num-0">
            <a:extLst xmlns:a="http://schemas.openxmlformats.org/drawingml/2006/main">
              <a:ext uri="{FF2B5EF4-FFF2-40B4-BE49-F238E27FC236}">
                <a16:creationId xmlns:a16="http://schemas.microsoft.com/office/drawing/2014/main" id="{54EC6ADF-F21B-4134-9EDA-21018E4A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623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opp-rule-1">
            <a:extLst xmlns:a="http://schemas.openxmlformats.org/drawingml/2006/main">
              <a:ext uri="{FF2B5EF4-FFF2-40B4-BE49-F238E27FC236}">
                <a16:creationId xmlns:a16="http://schemas.microsoft.com/office/drawing/2014/main" id="{88A121D0-D29E-4BAB-AFE8-9953DC9F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pp-1">
            <a:extLst xmlns:a="http://schemas.openxmlformats.org/drawingml/2006/main">
              <a:ext uri="{FF2B5EF4-FFF2-40B4-BE49-F238E27FC236}">
                <a16:creationId xmlns:a16="http://schemas.microsoft.com/office/drawing/2014/main" id="{2AC351C1-9BE7-49B5-8811-6DA79FB8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Forms &amp; intake automation</a:t>
            </a:r>
          </a:p>
        </p:txBody>
      </p:sp>
      <p:sp>
        <p:nvSpPr>
          <p:cNvPr id="12" name="opp-num-1">
            <a:extLst xmlns:a="http://schemas.openxmlformats.org/drawingml/2006/main">
              <a:ext uri="{FF2B5EF4-FFF2-40B4-BE49-F238E27FC236}">
                <a16:creationId xmlns:a16="http://schemas.microsoft.com/office/drawing/2014/main" id="{5ABA5DEB-1E1A-42CA-BCDD-7733F94E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766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opp-rule-2">
            <a:extLst xmlns:a="http://schemas.openxmlformats.org/drawingml/2006/main">
              <a:ext uri="{FF2B5EF4-FFF2-40B4-BE49-F238E27FC236}">
                <a16:creationId xmlns:a16="http://schemas.microsoft.com/office/drawing/2014/main" id="{56647E5B-0CC1-400D-A5DC-B815DA2A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pp-2">
            <a:extLst xmlns:a="http://schemas.openxmlformats.org/drawingml/2006/main">
              <a:ext uri="{FF2B5EF4-FFF2-40B4-BE49-F238E27FC236}">
                <a16:creationId xmlns:a16="http://schemas.microsoft.com/office/drawing/2014/main" id="{00B42C80-8F08-4877-B2E9-4D749085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Operations dashboards</a:t>
            </a:r>
          </a:p>
        </p:txBody>
      </p:sp>
      <p:sp>
        <p:nvSpPr>
          <p:cNvPr id="15" name="opp-num-2">
            <a:extLst xmlns:a="http://schemas.openxmlformats.org/drawingml/2006/main">
              <a:ext uri="{FF2B5EF4-FFF2-40B4-BE49-F238E27FC236}">
                <a16:creationId xmlns:a16="http://schemas.microsoft.com/office/drawing/2014/main" id="{9B5F566F-6643-432C-ADBC-A5E340E6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opp-rule-3">
            <a:extLst xmlns:a="http://schemas.openxmlformats.org/drawingml/2006/main">
              <a:ext uri="{FF2B5EF4-FFF2-40B4-BE49-F238E27FC236}">
                <a16:creationId xmlns:a16="http://schemas.microsoft.com/office/drawing/2014/main" id="{1AD95B9F-44D8-4E7D-A3D2-4D1A7E6F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pp-3">
            <a:extLst xmlns:a="http://schemas.openxmlformats.org/drawingml/2006/main">
              <a:ext uri="{FF2B5EF4-FFF2-40B4-BE49-F238E27FC236}">
                <a16:creationId xmlns:a16="http://schemas.microsoft.com/office/drawing/2014/main" id="{43CB7C9C-5C0D-4CE8-BB8F-61D114D9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Approvals &amp; exception handling</a:t>
            </a:r>
          </a:p>
        </p:txBody>
      </p:sp>
      <p:sp>
        <p:nvSpPr>
          <p:cNvPr id="18" name="opp-num-3">
            <a:extLst xmlns:a="http://schemas.openxmlformats.org/drawingml/2006/main">
              <a:ext uri="{FF2B5EF4-FFF2-40B4-BE49-F238E27FC236}">
                <a16:creationId xmlns:a16="http://schemas.microsoft.com/office/drawing/2014/main" id="{FE8F5B4E-0BA0-4E3E-B35B-A7ECB268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053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opp-rule-4">
            <a:extLst xmlns:a="http://schemas.openxmlformats.org/drawingml/2006/main">
              <a:ext uri="{FF2B5EF4-FFF2-40B4-BE49-F238E27FC236}">
                <a16:creationId xmlns:a16="http://schemas.microsoft.com/office/drawing/2014/main" id="{BBE15A61-5521-440D-9D2C-E543D853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opp-4">
            <a:extLst xmlns:a="http://schemas.openxmlformats.org/drawingml/2006/main">
              <a:ext uri="{FF2B5EF4-FFF2-40B4-BE49-F238E27FC236}">
                <a16:creationId xmlns:a16="http://schemas.microsoft.com/office/drawing/2014/main" id="{71645D81-C672-4F1D-AC30-FE9D64FB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System integration</a:t>
            </a:r>
          </a:p>
        </p:txBody>
      </p:sp>
      <p:sp>
        <p:nvSpPr>
          <p:cNvPr id="21" name="opp-num-4">
            <a:extLst xmlns:a="http://schemas.openxmlformats.org/drawingml/2006/main">
              <a:ext uri="{FF2B5EF4-FFF2-40B4-BE49-F238E27FC236}">
                <a16:creationId xmlns:a16="http://schemas.microsoft.com/office/drawing/2014/main" id="{4502C7AC-ADB7-49CE-AC49-4A4153AA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197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engagement">
            <a:extLst xmlns:a="http://schemas.openxmlformats.org/drawingml/2006/main">
              <a:ext uri="{FF2B5EF4-FFF2-40B4-BE49-F238E27FC236}">
                <a16:creationId xmlns:a16="http://schemas.microsoft.com/office/drawing/2014/main" id="{93DC7E5A-A2E3-44D4-923A-4061B9F0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00200"/>
            <a:ext cx="15049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engagement-copy">
            <a:extLst xmlns:a="http://schemas.openxmlformats.org/drawingml/2006/main">
              <a:ext uri="{FF2B5EF4-FFF2-40B4-BE49-F238E27FC236}">
                <a16:creationId xmlns:a16="http://schemas.microsoft.com/office/drawing/2014/main" id="{2BC3ED5E-DF90-4401-943D-F0F4A4BE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790700"/>
            <a:ext cx="10858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AUDIT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PRIORITIZE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BUILD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VERIFY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HAND OFF</a:t>
            </a:r>
          </a:p>
        </p:txBody>
      </p:sp>
    </p:spTree>
    <p:extLst>
      <p:ext uri="{BB962C8B-B14F-4D97-AF65-F5344CB8AC3E}">
        <p14:creationId xmlns:p14="http://schemas.microsoft.com/office/powerpoint/2010/main" val="8370444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rand">
            <a:extLst xmlns:a="http://schemas.openxmlformats.org/drawingml/2006/main">
              <a:ext uri="{FF2B5EF4-FFF2-40B4-BE49-F238E27FC236}">
                <a16:creationId xmlns:a16="http://schemas.microsoft.com/office/drawing/2014/main" id="{342B32DC-4A66-4437-80E8-A8A0FBCE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9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9C66"/>
                </a:solidFill>
                <a:latin typeface="Arial"/>
                <a:ea typeface="Arial"/>
                <a:cs typeface="Arial"/>
              </a:rPr>
              <a:t>YORKSTEAD SYSTEMS</a:t>
            </a:r>
          </a:p>
        </p:txBody>
      </p:sp>
      <p:sp>
        <p:nvSpPr>
          <p:cNvPr id="2" name="close">
            <a:extLst xmlns:a="http://schemas.openxmlformats.org/drawingml/2006/main">
              <a:ext uri="{FF2B5EF4-FFF2-40B4-BE49-F238E27FC236}">
                <a16:creationId xmlns:a16="http://schemas.microsoft.com/office/drawing/2014/main" id="{6E142C87-A6CB-45B4-88E8-4387C899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0001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goal is not more automation.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goal is less operational drag.</a:t>
            </a:r>
          </a:p>
        </p:txBody>
      </p:sp>
      <p:sp>
        <p:nvSpPr>
          <p:cNvPr id="3" name="ask">
            <a:extLst xmlns:a="http://schemas.openxmlformats.org/drawingml/2006/main">
              <a:ext uri="{FF2B5EF4-FFF2-40B4-BE49-F238E27FC236}">
                <a16:creationId xmlns:a16="http://schemas.microsoft.com/office/drawing/2014/main" id="{C7A5E809-9017-43C4-ADBF-89EF4669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7E0E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7E0E7"/>
                </a:solidFill>
                <a:latin typeface="Arial"/>
                <a:ea typeface="Arial"/>
                <a:cs typeface="Arial"/>
              </a:rPr>
              <a:t>Bring one broken workflow. We’ll identify the first useful system and the shortest path to shipping it.</a:t>
            </a:r>
          </a:p>
        </p:txBody>
      </p:sp>
      <p:sp>
        <p:nvSpPr>
          <p:cNvPr id="4" name="contact">
            <a:extLst xmlns:a="http://schemas.openxmlformats.org/drawingml/2006/main">
              <a:ext uri="{FF2B5EF4-FFF2-40B4-BE49-F238E27FC236}">
                <a16:creationId xmlns:a16="http://schemas.microsoft.com/office/drawing/2014/main" id="{0947563B-8CEA-495D-850D-10AD2D45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hello@yorkstead.com  •  yorkstead.com</a:t>
            </a:r>
          </a:p>
        </p:txBody>
      </p:sp>
      <p:sp>
        <p:nvSpPr>
          <p:cNvPr id="5" name="accent-block">
            <a:extLst xmlns:a="http://schemas.openxmlformats.org/drawingml/2006/main">
              <a:ext uri="{FF2B5EF4-FFF2-40B4-BE49-F238E27FC236}">
                <a16:creationId xmlns:a16="http://schemas.microsoft.com/office/drawing/2014/main" id="{19B66867-2773-4F4C-ACA8-B1BD29F5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28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C6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069583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2026-09-01T00:28:53.7850000Z</dcterms:created>
  <dcterms:modified xsi:type="dcterms:W3CDTF">2026-09-01T00:28:53.7850000Z</dcterms:modified>
</coreProperties>
</file>