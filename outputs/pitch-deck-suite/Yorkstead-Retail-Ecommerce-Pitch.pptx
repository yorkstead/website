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7ff63150e4f46" /><Relationship Type="http://schemas.openxmlformats.org/officeDocument/2006/relationships/extended-properties" Target="/docProps/app.xml" Id="Recb2de885b244341" /><Relationship Type="http://schemas.openxmlformats.org/officeDocument/2006/relationships/officeDocument" Target="/ppt/presentation.xml" Id="R57838646f3e9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40e1f5d5af41b8"/>
  </p:sldMasterIdLst>
  <p:notesMasterIdLst>
    <p:notesMasterId xmlns:r="http://schemas.openxmlformats.org/officeDocument/2006/relationships" r:id="R3be18ec328744677"/>
  </p:notesMasterIdLst>
  <p:sldIdLst>
    <p:sldId xmlns:r="http://schemas.openxmlformats.org/officeDocument/2006/relationships" id="256" r:id="R5b6f949fde9542f1"/>
    <p:sldId xmlns:r="http://schemas.openxmlformats.org/officeDocument/2006/relationships" id="257" r:id="Rdc712d22f2764a22"/>
    <p:sldId xmlns:r="http://schemas.openxmlformats.org/officeDocument/2006/relationships" id="258" r:id="R3b2f5e1cb6d84dac"/>
    <p:sldId xmlns:r="http://schemas.openxmlformats.org/officeDocument/2006/relationships" id="259" r:id="R4276f7094bd84c7f"/>
    <p:sldId xmlns:r="http://schemas.openxmlformats.org/officeDocument/2006/relationships" id="260" r:id="Re3312ec584b2408e"/>
    <p:sldId xmlns:r="http://schemas.openxmlformats.org/officeDocument/2006/relationships" id="261" r:id="Rd56fa4472bea40ea"/>
    <p:sldId xmlns:r="http://schemas.openxmlformats.org/officeDocument/2006/relationships" id="262" r:id="R5483fa5510d744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b1109e851462f" /><Relationship Type="http://schemas.openxmlformats.org/officeDocument/2006/relationships/slideMaster" Target="/ppt/slideMasters/slideMaster1.xml" Id="Rb240e1f5d5af41b8" /><Relationship Type="http://schemas.openxmlformats.org/officeDocument/2006/relationships/notesMaster" Target="/ppt/notesMasters/notesMaster1.xml" Id="R3be18ec328744677" /><Relationship Type="http://schemas.openxmlformats.org/officeDocument/2006/relationships/presProps" Target="/ppt/presProps.xml" Id="Rc0a23df6f5624ef6" /><Relationship Type="http://schemas.openxmlformats.org/officeDocument/2006/relationships/tableStyles" Target="/ppt/tableStyles.xml" Id="R79aaf617264a4011" /><Relationship Type="http://schemas.openxmlformats.org/officeDocument/2006/relationships/slide" Target="/ppt/slides/slide1.xml" Id="R5b6f949fde9542f1" /><Relationship Type="http://schemas.openxmlformats.org/officeDocument/2006/relationships/slide" Target="/ppt/slides/slide2.xml" Id="Rdc712d22f2764a22" /><Relationship Type="http://schemas.openxmlformats.org/officeDocument/2006/relationships/slide" Target="/ppt/slides/slide3.xml" Id="R3b2f5e1cb6d84dac" /><Relationship Type="http://schemas.openxmlformats.org/officeDocument/2006/relationships/slide" Target="/ppt/slides/slide4.xml" Id="R4276f7094bd84c7f" /><Relationship Type="http://schemas.openxmlformats.org/officeDocument/2006/relationships/slide" Target="/ppt/slides/slide5.xml" Id="Re3312ec584b2408e" /><Relationship Type="http://schemas.openxmlformats.org/officeDocument/2006/relationships/slide" Target="/ppt/slides/slide6.xml" Id="Rd56fa4472bea40ea" /><Relationship Type="http://schemas.openxmlformats.org/officeDocument/2006/relationships/slide" Target="/ppt/slides/slide7.xml" Id="R5483fa5510d7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4efb2b2aa3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ed8e53a2394fc6" /><Relationship Type="http://schemas.openxmlformats.org/officeDocument/2006/relationships/notesMaster" Target="/ppt/notesMasters/notesMaster1.xml" Id="Rbbe40222eca5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1ddebab734163" /><Relationship Type="http://schemas.openxmlformats.org/officeDocument/2006/relationships/notesMaster" Target="/ppt/notesMasters/notesMaster1.xml" Id="R23275cf7c57d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f89d4a67d44747" /><Relationship Type="http://schemas.openxmlformats.org/officeDocument/2006/relationships/notesMaster" Target="/ppt/notesMasters/notesMaster1.xml" Id="Re536e40b5e9a40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f1d3b5828044f3" /><Relationship Type="http://schemas.openxmlformats.org/officeDocument/2006/relationships/notesMaster" Target="/ppt/notesMasters/notesMaster1.xml" Id="R1c144d56bd5e40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d86d9262cf408b" /><Relationship Type="http://schemas.openxmlformats.org/officeDocument/2006/relationships/notesMaster" Target="/ppt/notesMasters/notesMaster1.xml" Id="R4fa1f3c4438543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985ead91ef4fd9" /><Relationship Type="http://schemas.openxmlformats.org/officeDocument/2006/relationships/notesMaster" Target="/ppt/notesMasters/notesMaster1.xml" Id="R3a9300de9db044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216fcabaec4f21" /><Relationship Type="http://schemas.openxmlformats.org/officeDocument/2006/relationships/notesMaster" Target="/ppt/notesMasters/notesMaster1.xml" Id="R87706ea440394f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brand positioning: repository lib/brand.ts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Buyer problems synthesized from Yorkstead project workflows; no external quantitative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positioning and repository case-study narratives.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C:\Users\4twen\dev\yorkstead-website\public\media\jwld\screenshots\home.png</a:t>
            </a:r>
          </a:p>
          <a:p xmlns:a="http://schemas.openxmlformats.org/drawingml/2006/main">
            <a:r>
              <a:t>- Repository project documentation and case-study limitations.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C:\Users\4twen\dev\yorkstead-website\public\media\jwld\screenshots\home.png</a:t>
            </a:r>
          </a:p>
          <a:p xmlns:a="http://schemas.openxmlformats.org/drawingml/2006/main">
            <a:r>
              <a:t>- C:\Users\4twen\dev\yorkstead-website\public\media\jwld\screenshots\catalog.png</a:t>
            </a:r>
          </a:p>
          <a:p xmlns:a="http://schemas.openxmlformats.org/drawingml/2006/main">
            <a:r>
              <a:t>- C:\Users\4twen\dev\yorkstead-website\public\media\jwld\screenshots\custom-form.png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Engagement framing from yorkstead.com services, packages, and workflow-audit content.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Yorkstead Systems contact and engagement positioning.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fb0759a099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c6ed5562ef4bdd" /><Relationship Type="http://schemas.openxmlformats.org/officeDocument/2006/relationships/slideLayout" Target="/ppt/slideLayouts/slideLayout1.xml" Id="R1771f200f0e543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1f200f0e543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6402ccd4e40d7" /><Relationship Type="http://schemas.openxmlformats.org/officeDocument/2006/relationships/notesSlide" Target="/ppt/notesSlides/notesSlide1.xml" Id="R111ecb5b5fdc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7518f47f94f0f" /><Relationship Type="http://schemas.openxmlformats.org/officeDocument/2006/relationships/notesSlide" Target="/ppt/notesSlides/notesSlide2.xml" Id="R4a1054ef6b1e47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6eb0bbb934d34" /><Relationship Type="http://schemas.openxmlformats.org/officeDocument/2006/relationships/notesSlide" Target="/ppt/notesSlides/notesSlide3.xml" Id="Reec73f8b698944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3c9d43a74985" /><Relationship Type="http://schemas.openxmlformats.org/officeDocument/2006/relationships/image" Target="/ppt/media/image.jpeg" Id="Ra6ee494ced014179" /><Relationship Type="http://schemas.openxmlformats.org/officeDocument/2006/relationships/notesSlide" Target="/ppt/notesSlides/notesSlide4.xml" Id="R623204df25df48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fd1647d0d478a" /><Relationship Type="http://schemas.openxmlformats.org/officeDocument/2006/relationships/image" Target="/ppt/media/image2.jpeg" Id="Rcd95cf5c10bb4cf6" /><Relationship Type="http://schemas.openxmlformats.org/officeDocument/2006/relationships/image" Target="/ppt/media/image3.jpeg" Id="R74c6264ae534480e" /><Relationship Type="http://schemas.openxmlformats.org/officeDocument/2006/relationships/image" Target="/ppt/media/image4.jpeg" Id="R5194cddf991e49ed" /><Relationship Type="http://schemas.openxmlformats.org/officeDocument/2006/relationships/notesSlide" Target="/ppt/notesSlides/notesSlide5.xml" Id="Rfb43a06693344d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e31bd5cb349ee" /><Relationship Type="http://schemas.openxmlformats.org/officeDocument/2006/relationships/notesSlide" Target="/ppt/notesSlides/notesSlide6.xml" Id="R3732b3b039af45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a2697d0b49a0" /><Relationship Type="http://schemas.openxmlformats.org/officeDocument/2006/relationships/notesSlide" Target="/ppt/notesSlides/notesSlide7.xml" Id="R688caf83f6fa4a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DA56F3A4-910C-438E-9C93-73F1AE0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0"/>
            <a:ext cx="455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3705FEA-FF6F-49FC-A261-18EA76BF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3" name="sector">
            <a:extLst xmlns:a="http://schemas.openxmlformats.org/drawingml/2006/main">
              <a:ext uri="{FF2B5EF4-FFF2-40B4-BE49-F238E27FC236}">
                <a16:creationId xmlns:a16="http://schemas.microsoft.com/office/drawing/2014/main" id="{40F9B372-7D9D-47AA-9475-240DA84F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RETAIL + E-COMMERCE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AD168D19-CDFA-43A0-8913-7DAF1AB7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Make the product feel valuable before the customer touches it.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3CEF931-A3AC-47F8-814F-B184F900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Distinctive storefronts, product storytelling, custom-order intake, and the operational pieces behind a confident purchase.</a:t>
            </a:r>
          </a:p>
        </p:txBody>
      </p:sp>
      <p:sp>
        <p:nvSpPr>
          <p:cNvPr id="6" name="contact">
            <a:extLst xmlns:a="http://schemas.openxmlformats.org/drawingml/2006/main">
              <a:ext uri="{FF2B5EF4-FFF2-40B4-BE49-F238E27FC236}">
                <a16:creationId xmlns:a16="http://schemas.microsoft.com/office/drawing/2014/main" id="{38761149-5748-4260-96A8-ABC384B7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Brandon York  •  hello@yorkstead.com  •  yorkstead.com</a:t>
            </a:r>
          </a:p>
        </p:txBody>
      </p:sp>
      <p:sp>
        <p:nvSpPr>
          <p:cNvPr id="7" name="accent-copy">
            <a:extLst xmlns:a="http://schemas.openxmlformats.org/drawingml/2006/main">
              <a:ext uri="{FF2B5EF4-FFF2-40B4-BE49-F238E27FC236}">
                <a16:creationId xmlns:a16="http://schemas.microsoft.com/office/drawing/2014/main" id="{62EA199B-BAE1-4CE6-B097-AA1E4628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42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THAT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KEEPS REAL-WORLD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 MOVING.</a:t>
            </a:r>
          </a:p>
        </p:txBody>
      </p:sp>
    </p:spTree>
    <p:extLst>
      <p:ext uri="{BB962C8B-B14F-4D97-AF65-F5344CB8AC3E}">
        <p14:creationId xmlns:p14="http://schemas.microsoft.com/office/powerpoint/2010/main" val="1797228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A12EE1D5-F0C3-42CB-8B45-46452E0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RETAIL + E-COMMERCE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8A9E23-E151-4BCF-9564-718A8971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The expensive part is the handoff nobody owns.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CEFEC4C-DA40-4AEF-8CE2-37878C2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7B5C159-2800-4899-966E-F6A84681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7933008-C3CF-4F98-85CE-892C4B17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pain-num-0">
            <a:extLst xmlns:a="http://schemas.openxmlformats.org/drawingml/2006/main">
              <a:ext uri="{FF2B5EF4-FFF2-40B4-BE49-F238E27FC236}">
                <a16:creationId xmlns:a16="http://schemas.microsoft.com/office/drawing/2014/main" id="{2393E149-1114-4CBB-ACDA-47B5F747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ain-0">
            <a:extLst xmlns:a="http://schemas.openxmlformats.org/drawingml/2006/main">
              <a:ext uri="{FF2B5EF4-FFF2-40B4-BE49-F238E27FC236}">
                <a16:creationId xmlns:a16="http://schemas.microsoft.com/office/drawing/2014/main" id="{7D622080-947A-403A-9591-109E376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573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Template storefronts flatten what makes the product worth buying.</a:t>
            </a:r>
          </a:p>
        </p:txBody>
      </p:sp>
      <p:sp>
        <p:nvSpPr>
          <p:cNvPr id="8" name="pain-rule-0">
            <a:extLst xmlns:a="http://schemas.openxmlformats.org/drawingml/2006/main">
              <a:ext uri="{FF2B5EF4-FFF2-40B4-BE49-F238E27FC236}">
                <a16:creationId xmlns:a16="http://schemas.microsoft.com/office/drawing/2014/main" id="{7FE6EFE3-8E7B-4B5F-82AE-A64DAF6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146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in-num-1">
            <a:extLst xmlns:a="http://schemas.openxmlformats.org/drawingml/2006/main">
              <a:ext uri="{FF2B5EF4-FFF2-40B4-BE49-F238E27FC236}">
                <a16:creationId xmlns:a16="http://schemas.microsoft.com/office/drawing/2014/main" id="{7620CFF1-28CA-4C68-AD91-86FBF81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ain-1">
            <a:extLst xmlns:a="http://schemas.openxmlformats.org/drawingml/2006/main">
              <a:ext uri="{FF2B5EF4-FFF2-40B4-BE49-F238E27FC236}">
                <a16:creationId xmlns:a16="http://schemas.microsoft.com/office/drawing/2014/main" id="{B680F3B4-30C9-4A05-A53A-2CCB403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Custom requests arrive without the details needed to quote or fulfill them.</a:t>
            </a:r>
          </a:p>
        </p:txBody>
      </p:sp>
      <p:sp>
        <p:nvSpPr>
          <p:cNvPr id="11" name="pain-rule-1">
            <a:extLst xmlns:a="http://schemas.openxmlformats.org/drawingml/2006/main">
              <a:ext uri="{FF2B5EF4-FFF2-40B4-BE49-F238E27FC236}">
                <a16:creationId xmlns:a16="http://schemas.microsoft.com/office/drawing/2014/main" id="{518E2266-DCBB-495E-90B1-7CF48FF7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in-num-2">
            <a:extLst xmlns:a="http://schemas.openxmlformats.org/drawingml/2006/main">
              <a:ext uri="{FF2B5EF4-FFF2-40B4-BE49-F238E27FC236}">
                <a16:creationId xmlns:a16="http://schemas.microsoft.com/office/drawing/2014/main" id="{A1F5FF96-1590-47B1-B133-6636059B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ain-2">
            <a:extLst xmlns:a="http://schemas.openxmlformats.org/drawingml/2006/main">
              <a:ext uri="{FF2B5EF4-FFF2-40B4-BE49-F238E27FC236}">
                <a16:creationId xmlns:a16="http://schemas.microsoft.com/office/drawing/2014/main" id="{7B9DAE55-BBBF-4F7A-88BD-DA35DF6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Marketing, catalog, checkout, and fulfillment feel like separate businesses.</a:t>
            </a:r>
          </a:p>
        </p:txBody>
      </p:sp>
      <p:sp>
        <p:nvSpPr>
          <p:cNvPr id="14" name="pain-rule-2">
            <a:extLst xmlns:a="http://schemas.openxmlformats.org/drawingml/2006/main">
              <a:ext uri="{FF2B5EF4-FFF2-40B4-BE49-F238E27FC236}">
                <a16:creationId xmlns:a16="http://schemas.microsoft.com/office/drawing/2014/main" id="{152BB8DF-F189-43F6-AF59-49571A80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825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0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EA59C1AD-82C5-45DA-A426-4B17E6A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RETAIL + E-COMMERCE</a:t>
            </a:r>
          </a:p>
        </p:txBody>
      </p:sp>
      <p:sp>
        <p:nvSpPr>
          <p:cNvPr id="2" name="promise">
            <a:extLst xmlns:a="http://schemas.openxmlformats.org/drawingml/2006/main">
              <a:ext uri="{FF2B5EF4-FFF2-40B4-BE49-F238E27FC236}">
                <a16:creationId xmlns:a16="http://schemas.microsoft.com/office/drawing/2014/main" id="{241D3378-8E75-487A-A338-351C4287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storefront that sells the product—and hands clean work to the operator.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C2B1426-694A-48A6-A239-22289E79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57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The useful system is not the one with the most features. It is the one that keeps context attached as work moves between people, decisions, and tools.</a:t>
            </a:r>
          </a:p>
        </p:txBody>
      </p:sp>
      <p:sp>
        <p:nvSpPr>
          <p:cNvPr id="4" name="signal">
            <a:extLst xmlns:a="http://schemas.openxmlformats.org/drawingml/2006/main">
              <a:ext uri="{FF2B5EF4-FFF2-40B4-BE49-F238E27FC236}">
                <a16:creationId xmlns:a16="http://schemas.microsoft.com/office/drawing/2014/main" id="{3D4BE2E8-F7D5-49ED-8613-8C1B14D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copy">
            <a:extLst xmlns:a="http://schemas.openxmlformats.org/drawingml/2006/main">
              <a:ext uri="{FF2B5EF4-FFF2-40B4-BE49-F238E27FC236}">
                <a16:creationId xmlns:a16="http://schemas.microsoft.com/office/drawing/2014/main" id="{4149C38A-F23E-43B9-A0B3-9A3A3E18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38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C888683-BCB0-493B-9F4E-E63BFD81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90D7A92-CD7F-4562-BF76-A84B8E4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61F3AD-2897-44FA-8F48-3FB4A3E3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3107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5AD7E33-BDC2-43B8-A244-02A3C62B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RETAIL + E-COMMERCE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A4E5E0-BE35-4112-94B3-0870C195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50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JWLD turns a hand-finished product into a coherent buying experience.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085F12-AB9D-4B80-93C1-5FE5506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62E6DF3-3D57-4BA2-B3A7-3E73B76B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212102-B597-4C9F-854B-90468949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proof-body">
            <a:extLst xmlns:a="http://schemas.openxmlformats.org/drawingml/2006/main">
              <a:ext uri="{FF2B5EF4-FFF2-40B4-BE49-F238E27FC236}">
                <a16:creationId xmlns:a16="http://schemas.microsoft.com/office/drawing/2014/main" id="{5EDEA41D-AA16-4359-9D1C-55408BD8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90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06C"/>
                </a:solidFill>
                <a:latin typeface="Arial"/>
                <a:ea typeface="Arial"/>
                <a:cs typeface="Arial"/>
              </a:rPr>
              <a:t>The project combines art direction, a focused catalog, product detail, custom commission intake, cart behavior, and a premium visual system. The live storefront is evidence of the customer-facing experience; commercial outcomes are not yet quantified.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e494ced014179"/>
          <a:srcRect xmlns:a="http://schemas.openxmlformats.org/drawingml/2006/main" l="0" t="1271" r="0" b="1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9650" y="1600200"/>
            <a:ext cx="6572250" cy="3695700"/>
          </a:xfrm>
          <a:prstGeom xmlns:a="http://schemas.openxmlformats.org/drawingml/2006/main" prst="rect">
            <a:avLst/>
          </a:prstGeom>
        </p:spPr>
      </p:pic>
      <p:sp>
        <p:nvSpPr>
          <p:cNvPr id="8" name="image-caption-bg">
            <a:extLst xmlns:a="http://schemas.openxmlformats.org/drawingml/2006/main">
              <a:ext uri="{FF2B5EF4-FFF2-40B4-BE49-F238E27FC236}">
                <a16:creationId xmlns:a16="http://schemas.microsoft.com/office/drawing/2014/main" id="{9BC73048-012A-4E3C-BAA9-38C86F09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657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D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51A31DC6-44E7-4C1A-9361-D5D426FC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24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Brand-led storefront</a:t>
            </a:r>
          </a:p>
        </p:txBody>
      </p:sp>
    </p:spTree>
    <p:extLst>
      <p:ext uri="{BB962C8B-B14F-4D97-AF65-F5344CB8AC3E}">
        <p14:creationId xmlns:p14="http://schemas.microsoft.com/office/powerpoint/2010/main" val="859785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45351560-4D7C-444E-B4CF-D3458F2D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RETAIL + E-COMMERCE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D554D1-40E7-435C-B351-513F810C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Proof you can point to—not promises you have to explain.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6133FFF-E03E-41FE-853B-6BA4F7F4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85A7EFB-BDED-4030-9A7A-6C87B83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9AD3CDA-470A-4015-BEB9-E911E952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5cf5c10bb4cf6"/>
          <a:srcRect xmlns:a="http://schemas.openxmlformats.org/drawingml/2006/main" l="9149" t="0" r="91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cap-0">
            <a:extLst xmlns:a="http://schemas.openxmlformats.org/drawingml/2006/main">
              <a:ext uri="{FF2B5EF4-FFF2-40B4-BE49-F238E27FC236}">
                <a16:creationId xmlns:a16="http://schemas.microsoft.com/office/drawing/2014/main" id="{7DFA5D77-AEFF-4506-9B9E-60139EA8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Brand-led storefront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6264ae534480e"/>
          <a:srcRect xmlns:a="http://schemas.openxmlformats.org/drawingml/2006/main" l="9149" t="0" r="91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cap-1">
            <a:extLst xmlns:a="http://schemas.openxmlformats.org/drawingml/2006/main">
              <a:ext uri="{FF2B5EF4-FFF2-40B4-BE49-F238E27FC236}">
                <a16:creationId xmlns:a16="http://schemas.microsoft.com/office/drawing/2014/main" id="{702DF97C-E09B-4C64-BEF3-BAB7537B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Focused catalog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4cddf991e49ed"/>
          <a:srcRect xmlns:a="http://schemas.openxmlformats.org/drawingml/2006/main" l="9149" t="0" r="91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1619250"/>
            <a:ext cx="3371850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cap-2">
            <a:extLst xmlns:a="http://schemas.openxmlformats.org/drawingml/2006/main">
              <a:ext uri="{FF2B5EF4-FFF2-40B4-BE49-F238E27FC236}">
                <a16:creationId xmlns:a16="http://schemas.microsoft.com/office/drawing/2014/main" id="{703F673F-7A6A-4D4D-8EE8-B9317DBB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3371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Custom commission intake</a:t>
            </a:r>
          </a:p>
        </p:txBody>
      </p:sp>
      <p:sp>
        <p:nvSpPr>
          <p:cNvPr id="12" name="proof-note">
            <a:extLst xmlns:a="http://schemas.openxmlformats.org/drawingml/2006/main">
              <a:ext uri="{FF2B5EF4-FFF2-40B4-BE49-F238E27FC236}">
                <a16:creationId xmlns:a16="http://schemas.microsoft.com/office/drawing/2014/main" id="{95FDF90E-718A-4476-9BD9-B7FE699B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These are working interfaces and documented prototypes. Where outcomes have not been measured, the deck says so.</a:t>
            </a:r>
          </a:p>
        </p:txBody>
      </p:sp>
    </p:spTree>
    <p:extLst>
      <p:ext uri="{BB962C8B-B14F-4D97-AF65-F5344CB8AC3E}">
        <p14:creationId xmlns:p14="http://schemas.microsoft.com/office/powerpoint/2010/main" val="1411915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846BFD37-438D-4911-A3D6-41F28FCC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RETAIL + E-COMMERCE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B921EB-E76E-478A-91F4-108D4E5B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8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 focused first engagement creates momentum without a blank check.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451A341-BE01-413A-B36B-98136EC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FBECC3AF-32E4-4E19-9A3E-8119570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BB96AA-3A93-4A32-A09C-55116C40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first">
            <a:extLst xmlns:a="http://schemas.openxmlformats.org/drawingml/2006/main">
              <a:ext uri="{FF2B5EF4-FFF2-40B4-BE49-F238E27FC236}">
                <a16:creationId xmlns:a16="http://schemas.microsoft.com/office/drawing/2014/main" id="{F758E314-4AE4-452D-9A2C-454D70DE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Start with the buying path that matters most: discover, trust, choose, purchase—or request something custom.</a:t>
            </a:r>
          </a:p>
        </p:txBody>
      </p:sp>
      <p:sp>
        <p:nvSpPr>
          <p:cNvPr id="7" name="opp-rule-0">
            <a:extLst xmlns:a="http://schemas.openxmlformats.org/drawingml/2006/main">
              <a:ext uri="{FF2B5EF4-FFF2-40B4-BE49-F238E27FC236}">
                <a16:creationId xmlns:a16="http://schemas.microsoft.com/office/drawing/2014/main" id="{A791546E-F50A-400E-AF44-E924806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pp-0">
            <a:extLst xmlns:a="http://schemas.openxmlformats.org/drawingml/2006/main">
              <a:ext uri="{FF2B5EF4-FFF2-40B4-BE49-F238E27FC236}">
                <a16:creationId xmlns:a16="http://schemas.microsoft.com/office/drawing/2014/main" id="{871EEC88-C234-40A4-8412-F0D4668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Storefront strategy</a:t>
            </a:r>
          </a:p>
        </p:txBody>
      </p:sp>
      <p:sp>
        <p:nvSpPr>
          <p:cNvPr id="9" name="opp-num-0">
            <a:extLst xmlns:a="http://schemas.openxmlformats.org/drawingml/2006/main">
              <a:ext uri="{FF2B5EF4-FFF2-40B4-BE49-F238E27FC236}">
                <a16:creationId xmlns:a16="http://schemas.microsoft.com/office/drawing/2014/main" id="{B12ED90B-A9B8-46E0-A79A-9CC68F6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opp-rule-1">
            <a:extLst xmlns:a="http://schemas.openxmlformats.org/drawingml/2006/main">
              <a:ext uri="{FF2B5EF4-FFF2-40B4-BE49-F238E27FC236}">
                <a16:creationId xmlns:a16="http://schemas.microsoft.com/office/drawing/2014/main" id="{681E0FB2-3359-4671-8D38-0A639928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p-1">
            <a:extLst xmlns:a="http://schemas.openxmlformats.org/drawingml/2006/main">
              <a:ext uri="{FF2B5EF4-FFF2-40B4-BE49-F238E27FC236}">
                <a16:creationId xmlns:a16="http://schemas.microsoft.com/office/drawing/2014/main" id="{8B974791-7C3D-40D7-94AC-6D9A189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Product &amp; collection pages</a:t>
            </a:r>
          </a:p>
        </p:txBody>
      </p:sp>
      <p:sp>
        <p:nvSpPr>
          <p:cNvPr id="12" name="opp-num-1">
            <a:extLst xmlns:a="http://schemas.openxmlformats.org/drawingml/2006/main">
              <a:ext uri="{FF2B5EF4-FFF2-40B4-BE49-F238E27FC236}">
                <a16:creationId xmlns:a16="http://schemas.microsoft.com/office/drawing/2014/main" id="{D365ACDD-E8FE-4B4B-82A9-4A31B8D4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opp-rule-2">
            <a:extLst xmlns:a="http://schemas.openxmlformats.org/drawingml/2006/main">
              <a:ext uri="{FF2B5EF4-FFF2-40B4-BE49-F238E27FC236}">
                <a16:creationId xmlns:a16="http://schemas.microsoft.com/office/drawing/2014/main" id="{5DFE72C1-5E53-42F6-A85D-048F01B3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p-2">
            <a:extLst xmlns:a="http://schemas.openxmlformats.org/drawingml/2006/main">
              <a:ext uri="{FF2B5EF4-FFF2-40B4-BE49-F238E27FC236}">
                <a16:creationId xmlns:a16="http://schemas.microsoft.com/office/drawing/2014/main" id="{FCAB0598-D030-4E13-8BD7-6E0BE053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Custom order intake</a:t>
            </a:r>
          </a:p>
        </p:txBody>
      </p:sp>
      <p:sp>
        <p:nvSpPr>
          <p:cNvPr id="15" name="opp-num-2">
            <a:extLst xmlns:a="http://schemas.openxmlformats.org/drawingml/2006/main">
              <a:ext uri="{FF2B5EF4-FFF2-40B4-BE49-F238E27FC236}">
                <a16:creationId xmlns:a16="http://schemas.microsoft.com/office/drawing/2014/main" id="{3139AC5F-06D0-4CAA-A52E-64F00830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opp-rule-3">
            <a:extLst xmlns:a="http://schemas.openxmlformats.org/drawingml/2006/main">
              <a:ext uri="{FF2B5EF4-FFF2-40B4-BE49-F238E27FC236}">
                <a16:creationId xmlns:a16="http://schemas.microsoft.com/office/drawing/2014/main" id="{A0DA5A93-6CF6-4D47-AB4E-DA0A9C6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p-3">
            <a:extLst xmlns:a="http://schemas.openxmlformats.org/drawingml/2006/main">
              <a:ext uri="{FF2B5EF4-FFF2-40B4-BE49-F238E27FC236}">
                <a16:creationId xmlns:a16="http://schemas.microsoft.com/office/drawing/2014/main" id="{94D56ADA-3E75-447A-B969-60CB866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Checkout &amp; fulfillment flow</a:t>
            </a:r>
          </a:p>
        </p:txBody>
      </p:sp>
      <p:sp>
        <p:nvSpPr>
          <p:cNvPr id="18" name="opp-num-3">
            <a:extLst xmlns:a="http://schemas.openxmlformats.org/drawingml/2006/main">
              <a:ext uri="{FF2B5EF4-FFF2-40B4-BE49-F238E27FC236}">
                <a16:creationId xmlns:a16="http://schemas.microsoft.com/office/drawing/2014/main" id="{7D661D62-9C34-4109-A8C7-78191B16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opp-rule-4">
            <a:extLst xmlns:a="http://schemas.openxmlformats.org/drawingml/2006/main">
              <a:ext uri="{FF2B5EF4-FFF2-40B4-BE49-F238E27FC236}">
                <a16:creationId xmlns:a16="http://schemas.microsoft.com/office/drawing/2014/main" id="{7EFC38C4-4629-41E6-89F6-68A91D59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pp-4">
            <a:extLst xmlns:a="http://schemas.openxmlformats.org/drawingml/2006/main">
              <a:ext uri="{FF2B5EF4-FFF2-40B4-BE49-F238E27FC236}">
                <a16:creationId xmlns:a16="http://schemas.microsoft.com/office/drawing/2014/main" id="{44A85A1C-78FF-422B-98F6-B310DAC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D12"/>
                </a:solidFill>
                <a:latin typeface="Arial"/>
                <a:ea typeface="Arial"/>
                <a:cs typeface="Arial"/>
              </a:rPr>
              <a:t>Launch measurement</a:t>
            </a:r>
          </a:p>
        </p:txBody>
      </p:sp>
      <p:sp>
        <p:nvSpPr>
          <p:cNvPr id="21" name="opp-num-4">
            <a:extLst xmlns:a="http://schemas.openxmlformats.org/drawingml/2006/main">
              <a:ext uri="{FF2B5EF4-FFF2-40B4-BE49-F238E27FC236}">
                <a16:creationId xmlns:a16="http://schemas.microsoft.com/office/drawing/2014/main" id="{3E50F0D3-799D-4AFD-BB74-11679CC3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6606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660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engagement">
            <a:extLst xmlns:a="http://schemas.openxmlformats.org/drawingml/2006/main">
              <a:ext uri="{FF2B5EF4-FFF2-40B4-BE49-F238E27FC236}">
                <a16:creationId xmlns:a16="http://schemas.microsoft.com/office/drawing/2014/main" id="{66286E6B-338D-41AA-A9D4-DD856983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600200"/>
            <a:ext cx="15049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ngagement-copy">
            <a:extLst xmlns:a="http://schemas.openxmlformats.org/drawingml/2006/main">
              <a:ext uri="{FF2B5EF4-FFF2-40B4-BE49-F238E27FC236}">
                <a16:creationId xmlns:a16="http://schemas.microsoft.com/office/drawing/2014/main" id="{CCF878B5-6DDC-429B-8C48-248AFCC6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10858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PRIORITIZE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0A0D1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0D12"/>
                </a:solidFill>
                <a:latin typeface="Arial"/>
                <a:ea typeface="Arial"/>
                <a:cs typeface="Arial"/>
              </a:rPr>
              <a:t>HAND OFF</a:t>
            </a:r>
          </a:p>
        </p:txBody>
      </p:sp>
    </p:spTree>
    <p:extLst>
      <p:ext uri="{BB962C8B-B14F-4D97-AF65-F5344CB8AC3E}">
        <p14:creationId xmlns:p14="http://schemas.microsoft.com/office/powerpoint/2010/main" val="16196446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8FED38C7-11EF-47E6-A35D-9AAAE4C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11D4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1D48"/>
                </a:solidFill>
                <a:latin typeface="Arial"/>
                <a:ea typeface="Arial"/>
                <a:cs typeface="Arial"/>
              </a:rPr>
              <a:t>YORKSTEAD SYSTEMS</a:t>
            </a:r>
          </a:p>
        </p:txBody>
      </p:sp>
      <p:sp>
        <p:nvSpPr>
          <p:cNvPr id="2" name="close">
            <a:extLst xmlns:a="http://schemas.openxmlformats.org/drawingml/2006/main">
              <a:ext uri="{FF2B5EF4-FFF2-40B4-BE49-F238E27FC236}">
                <a16:creationId xmlns:a16="http://schemas.microsoft.com/office/drawing/2014/main" id="{5F3F239B-E850-4E41-BACC-F7B11D81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beautiful store gets attention.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connected store gets the order right.</a:t>
            </a:r>
          </a:p>
        </p:txBody>
      </p:sp>
      <p:sp>
        <p:nvSpPr>
          <p:cNvPr id="3" name="ask">
            <a:extLst xmlns:a="http://schemas.openxmlformats.org/drawingml/2006/main">
              <a:ext uri="{FF2B5EF4-FFF2-40B4-BE49-F238E27FC236}">
                <a16:creationId xmlns:a16="http://schemas.microsoft.com/office/drawing/2014/main" id="{C1FBE7C7-70D9-4E75-8A3B-629335BB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Bring one broken workflow. We’ll identify the first useful system and the shortest path to shipping it.</a:t>
            </a:r>
          </a:p>
        </p:txBody>
      </p:sp>
      <p:sp>
        <p:nvSpPr>
          <p:cNvPr id="4" name="contact">
            <a:extLst xmlns:a="http://schemas.openxmlformats.org/drawingml/2006/main">
              <a:ext uri="{FF2B5EF4-FFF2-40B4-BE49-F238E27FC236}">
                <a16:creationId xmlns:a16="http://schemas.microsoft.com/office/drawing/2014/main" id="{2959CFAA-EBEE-4B64-8B09-2A61BDA9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hello@yorkstead.com  •  yorkstead.com</a:t>
            </a:r>
          </a:p>
        </p:txBody>
      </p:sp>
      <p:sp>
        <p:nvSpPr>
          <p:cNvPr id="5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21F8768E-BAB1-4292-9597-AE51130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0545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2026-09-01T00:28:50.1080000Z</dcterms:created>
  <dcterms:modified xsi:type="dcterms:W3CDTF">2026-09-01T00:28:50.1080000Z</dcterms:modified>
</coreProperties>
</file>